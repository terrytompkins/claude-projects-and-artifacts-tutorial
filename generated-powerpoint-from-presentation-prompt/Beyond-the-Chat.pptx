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7" r:id="rId9"/>
    <p:sldId id="264" r:id="rId10"/>
    <p:sldId id="263" r:id="rId11"/>
    <p:sldId id="265" r:id="rId12"/>
    <p:sldId id="266"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84" y="6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1166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0:00–0:03, per 05-presenter-runbook.md. Suggested opening: “Most of us begin using generative AI one conversation at a time. That works well for isolated questions, but it becomes inefficient when the work has shared terminology, reference material, safety constraints, and multiple stakeholders.” Do not spend time explaining every possible Claude feature — move into the agenda quickly.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room through the 30-minute shape before diving in. Hard checkpoints from 05-presenter-runbook.md: move to the Artifact no later than 12:00, move to the live enhancement no later than 19:00, and stop waiting on generation at the 24:00 hard cutoff — open the prebuilt QA-enhanced Artifact instead. That is not a failure; it reinforces good demo practice.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outline's ‘Slide 1: Beyond the Chat,’ covered 0:00–0:03 per 05-presenter-runbook.md. Suggested line: “Today I want to show a simple progression: a chat answers a question, a Project creates a reusable workspace, and an Artifact turns that workspace into something interactive.” Keep this brief — the live Project walkthrough starting at 0:03 does the real work of proving the point.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Outline's ‘Slide 2: What Persists Where?,’ also 0:00–0:03. Suggested explanation: “A Project separates three things we often mix together: the current conversation, reusable instructions, and reusable knowledge. That means I can open several chats for different tasks without copying the same product background into every prompt. An Artifact is a separate idea — a substantial output, such as a document, visualization, or application, created from that context.” Transition into the live demo: “Let’s look at a small fictional product workspace.”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script in 05-presenter-runbook.md, section 3. Recommended browser tabs: slide deck, Project home, Chat A, Chat B, prebuilt Journey Explorer Artifact, prebuilt QA-enhanced Artifact, and this runbook — keep the prebuilt QA-enhanced version separate from the one you modify live.
0:03–0:07 Project — open Pet Care Coach Product Workspace, show Project Instructions briefly (do not read in full), then the Knowledge file list. Say: “This is not intended to be an enormous document repository. It is a curated body of knowledge for a specific product.” Optional question: “Which of these files would your own team already have in some form?” — cap discussion at 30 seconds.
0:07–0:12 Two chats — run Prompt A in Chat A; point out journey-stage names, human responsibility, safety considerations, source filenames. Switch to Chat B, run Prompt B; point out stakeholder perspectives, feature IDs, acceptance-criteria IDs, source/approval distinctions. Core teaching point: “The Project is not simply a long chat. It is a reusable context boundary for a body of work.” Fallback: if Prompt A is slow, show a pre-generated response, skip Prompt B live, summarize it verbally. Move on by 12:00.
0:12–0:19 Artifact — open the completed Journey Explorer. Show the header, then the Journey tab (switch Pet Owner → Clinic Team → Product &amp; QA), then Home Care (toggle two tasks, point out source/approval, no invented dosage), then Evidence (apply one filter). Fallback: perspective switching + one task toggle + Evidence tab only. Move on by 19:00.
0:19–0:25 QA Coverage Mode — switch to Product &amp; QA perspective, paste Prompt C. Before submitting, highlight: “This must be an enhancement to the existing Artifact, not a replacement application.” When done, demonstrate the QA Coverage toggle, coverage summary, coverage filter, one Given/When/Then scenario, and reset. Hard cutoff 24:00: stop waiting, open the prebuilt QA-enhanced Artifact instead — not a failure, reinforces good demo practice.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0:25–0:28, per 05-presenter-runbook.md. Summarize in sequence: “We started with structured product knowledge. We reused it across different conversations. We converted it into an interactive application. We then added a QA feature using acceptance criteria already stored in the Project.” Emphasize reusable context, cross-functional use, traceability, and iterative artifact development. Avoid implying the Artifact is automatically production-ready — suggested caution: “This is still a prototype. Generated code and product logic require review, testing, security analysis, and normal engineering practices before production use.”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0:28–0:30, per 05-presenter-runbook.md. Suggested close: “Use a normal chat when the task is isolated. Use a Project when the work has shared knowledge, vocabulary, instructions, or multiple conversations. Use an Artifact when the output should become something reusable or interactive. The broader lesson is that once work becomes repeatable, shared, or multi-step, we should stop treating it as an isolated prompt.” Final sentence: “Move reusable context into a Project, then turn the most useful results into Artifacts.”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FAB0F-672C-0FB5-4147-BDF7BEC82A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158584-E02C-1281-D47F-250C59B420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0404E0-8006-BBBB-A455-1430ECC7A4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250434-26D6-A378-4F70-F024A8DE6E35}"/>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8223529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22D"/>
        </a:solidFill>
        <a:effectLst/>
      </p:bgPr>
    </p:bg>
    <p:spTree>
      <p:nvGrpSpPr>
        <p:cNvPr id="1" name=""/>
        <p:cNvGrpSpPr/>
        <p:nvPr/>
      </p:nvGrpSpPr>
      <p:grpSpPr>
        <a:xfrm>
          <a:off x="0" y="0"/>
          <a:ext cx="0" cy="0"/>
          <a:chOff x="0" y="0"/>
          <a:chExt cx="0" cy="0"/>
        </a:xfrm>
      </p:grpSpPr>
      <p:sp>
        <p:nvSpPr>
          <p:cNvPr id="2" name="Text 0"/>
          <p:cNvSpPr/>
          <p:nvPr/>
        </p:nvSpPr>
        <p:spPr>
          <a:xfrm>
            <a:off x="731520" y="1051560"/>
            <a:ext cx="9144000" cy="365760"/>
          </a:xfrm>
          <a:prstGeom prst="rect">
            <a:avLst/>
          </a:prstGeom>
          <a:noFill/>
          <a:ln/>
        </p:spPr>
        <p:txBody>
          <a:bodyPr wrap="square" rtlCol="0" anchor="ctr"/>
          <a:lstStyle/>
          <a:p>
            <a:pPr marL="0" indent="0" algn="l">
              <a:buNone/>
            </a:pPr>
            <a:r>
              <a:rPr lang="en-US" sz="1300" b="1" kern="0" spc="200" dirty="0">
                <a:solidFill>
                  <a:srgbClr val="B8862E"/>
                </a:solidFill>
                <a:latin typeface="Calibri" pitchFamily="34" charset="0"/>
                <a:ea typeface="Calibri" pitchFamily="34" charset="-122"/>
                <a:cs typeface="Calibri" pitchFamily="34" charset="-120"/>
              </a:rPr>
              <a:t>CLAUDE PROJECTS &amp; ARTIFACTS</a:t>
            </a:r>
            <a:endParaRPr lang="en-US" sz="1300" dirty="0"/>
          </a:p>
        </p:txBody>
      </p:sp>
      <p:sp>
        <p:nvSpPr>
          <p:cNvPr id="3" name="Text 1"/>
          <p:cNvSpPr/>
          <p:nvPr/>
        </p:nvSpPr>
        <p:spPr>
          <a:xfrm>
            <a:off x="731520" y="1463040"/>
            <a:ext cx="10698480" cy="1188720"/>
          </a:xfrm>
          <a:prstGeom prst="rect">
            <a:avLst/>
          </a:prstGeom>
          <a:noFill/>
          <a:ln/>
        </p:spPr>
        <p:txBody>
          <a:bodyPr wrap="square" rtlCol="0" anchor="ctr"/>
          <a:lstStyle/>
          <a:p>
            <a:pPr marL="0" indent="0" algn="l">
              <a:buNone/>
            </a:pPr>
            <a:r>
              <a:rPr lang="en-US" sz="5000" b="1" dirty="0">
                <a:solidFill>
                  <a:srgbClr val="FFFFFF"/>
                </a:solidFill>
                <a:latin typeface="Cambria" pitchFamily="34" charset="0"/>
                <a:ea typeface="Cambria" pitchFamily="34" charset="-122"/>
                <a:cs typeface="Cambria" pitchFamily="34" charset="-120"/>
              </a:rPr>
              <a:t>Beyond the Chat</a:t>
            </a:r>
            <a:endParaRPr lang="en-US" sz="5000" dirty="0"/>
          </a:p>
        </p:txBody>
      </p:sp>
      <p:sp>
        <p:nvSpPr>
          <p:cNvPr id="4" name="Text 2"/>
          <p:cNvSpPr/>
          <p:nvPr/>
        </p:nvSpPr>
        <p:spPr>
          <a:xfrm>
            <a:off x="731520" y="2606040"/>
            <a:ext cx="9875520" cy="640080"/>
          </a:xfrm>
          <a:prstGeom prst="rect">
            <a:avLst/>
          </a:prstGeom>
          <a:noFill/>
          <a:ln/>
        </p:spPr>
        <p:txBody>
          <a:bodyPr wrap="square" rtlCol="0" anchor="ctr"/>
          <a:lstStyle/>
          <a:p>
            <a:pPr marL="0" indent="0" algn="l">
              <a:buNone/>
            </a:pPr>
            <a:r>
              <a:rPr lang="en-US" sz="1900" dirty="0">
                <a:solidFill>
                  <a:srgbClr val="D3E3DC"/>
                </a:solidFill>
                <a:latin typeface="Calibri" pitchFamily="34" charset="0"/>
                <a:ea typeface="Calibri" pitchFamily="34" charset="-122"/>
                <a:cs typeface="Calibri" pitchFamily="34" charset="-120"/>
              </a:rPr>
              <a:t>Building Reusable Workspaces and Apps with Claude Projects and Artifacts</a:t>
            </a:r>
            <a:endParaRPr lang="en-US" sz="1900" dirty="0"/>
          </a:p>
        </p:txBody>
      </p:sp>
      <p:sp>
        <p:nvSpPr>
          <p:cNvPr id="5" name="Shape 3"/>
          <p:cNvSpPr/>
          <p:nvPr/>
        </p:nvSpPr>
        <p:spPr>
          <a:xfrm>
            <a:off x="749808" y="3977640"/>
            <a:ext cx="3291840" cy="1234440"/>
          </a:xfrm>
          <a:prstGeom prst="roundRect">
            <a:avLst>
              <a:gd name="adj" fmla="val 6667"/>
            </a:avLst>
          </a:prstGeom>
          <a:solidFill>
            <a:srgbClr val="1F4741"/>
          </a:solidFill>
          <a:ln/>
        </p:spPr>
        <p:txBody>
          <a:bodyPr/>
          <a:lstStyle/>
          <a:p>
            <a:endParaRPr lang="en-US"/>
          </a:p>
        </p:txBody>
      </p:sp>
      <p:sp>
        <p:nvSpPr>
          <p:cNvPr id="6" name="Shape 4"/>
          <p:cNvSpPr/>
          <p:nvPr/>
        </p:nvSpPr>
        <p:spPr>
          <a:xfrm>
            <a:off x="978408" y="4311396"/>
            <a:ext cx="566928" cy="566928"/>
          </a:xfrm>
          <a:prstGeom prst="ellipse">
            <a:avLst/>
          </a:prstGeom>
          <a:solidFill>
            <a:srgbClr val="B8862E"/>
          </a:solidFill>
          <a:ln/>
        </p:spPr>
        <p:txBody>
          <a:bodyPr/>
          <a:lstStyle/>
          <a:p>
            <a:endParaRPr lang="en-US"/>
          </a:p>
        </p:txBody>
      </p:sp>
      <p:pic>
        <p:nvPicPr>
          <p:cNvPr id="7" name="Image 0" descr="/home/claude/deck/assets/icons/chat-pinedeep.png"/>
          <p:cNvPicPr>
            <a:picLocks noChangeAspect="1"/>
          </p:cNvPicPr>
          <p:nvPr/>
        </p:nvPicPr>
        <p:blipFill>
          <a:blip r:embed="rId3"/>
          <a:stretch>
            <a:fillRect/>
          </a:stretch>
        </p:blipFill>
        <p:spPr>
          <a:xfrm>
            <a:off x="1114471" y="4447459"/>
            <a:ext cx="294803" cy="294803"/>
          </a:xfrm>
          <a:prstGeom prst="rect">
            <a:avLst/>
          </a:prstGeom>
        </p:spPr>
      </p:pic>
      <p:sp>
        <p:nvSpPr>
          <p:cNvPr id="8" name="Text 5"/>
          <p:cNvSpPr/>
          <p:nvPr/>
        </p:nvSpPr>
        <p:spPr>
          <a:xfrm>
            <a:off x="1709928" y="3977640"/>
            <a:ext cx="2194560" cy="1234440"/>
          </a:xfrm>
          <a:prstGeom prst="rect">
            <a:avLst/>
          </a:prstGeom>
          <a:noFill/>
          <a:ln/>
        </p:spPr>
        <p:txBody>
          <a:bodyPr wrap="square" rtlCol="0" anchor="ctr"/>
          <a:lstStyle/>
          <a:p>
            <a:pPr marL="0" indent="0" algn="l">
              <a:buNone/>
            </a:pPr>
            <a:r>
              <a:rPr lang="en-US" sz="1900" b="1" kern="0" spc="100" dirty="0">
                <a:solidFill>
                  <a:srgbClr val="FFFFFF"/>
                </a:solidFill>
                <a:latin typeface="Cambria" pitchFamily="34" charset="0"/>
                <a:ea typeface="Cambria" pitchFamily="34" charset="-122"/>
                <a:cs typeface="Cambria" pitchFamily="34" charset="-120"/>
              </a:rPr>
              <a:t>CHAT</a:t>
            </a:r>
            <a:endParaRPr lang="en-US" sz="1900" dirty="0"/>
          </a:p>
        </p:txBody>
      </p:sp>
      <p:pic>
        <p:nvPicPr>
          <p:cNvPr id="9" name="Image 1" descr="/home/claude/deck/assets/icons/arrowright-amber.png"/>
          <p:cNvPicPr>
            <a:picLocks noChangeAspect="1"/>
          </p:cNvPicPr>
          <p:nvPr/>
        </p:nvPicPr>
        <p:blipFill>
          <a:blip r:embed="rId4"/>
          <a:stretch>
            <a:fillRect/>
          </a:stretch>
        </p:blipFill>
        <p:spPr>
          <a:xfrm>
            <a:off x="4059936" y="4448556"/>
            <a:ext cx="292608" cy="292608"/>
          </a:xfrm>
          <a:prstGeom prst="rect">
            <a:avLst/>
          </a:prstGeom>
        </p:spPr>
      </p:pic>
      <p:sp>
        <p:nvSpPr>
          <p:cNvPr id="10" name="Shape 6"/>
          <p:cNvSpPr/>
          <p:nvPr/>
        </p:nvSpPr>
        <p:spPr>
          <a:xfrm>
            <a:off x="4453128" y="3977640"/>
            <a:ext cx="3291840" cy="1234440"/>
          </a:xfrm>
          <a:prstGeom prst="roundRect">
            <a:avLst>
              <a:gd name="adj" fmla="val 6667"/>
            </a:avLst>
          </a:prstGeom>
          <a:solidFill>
            <a:srgbClr val="1F4741"/>
          </a:solidFill>
          <a:ln/>
        </p:spPr>
        <p:txBody>
          <a:bodyPr/>
          <a:lstStyle/>
          <a:p>
            <a:endParaRPr lang="en-US"/>
          </a:p>
        </p:txBody>
      </p:sp>
      <p:sp>
        <p:nvSpPr>
          <p:cNvPr id="11" name="Shape 7"/>
          <p:cNvSpPr/>
          <p:nvPr/>
        </p:nvSpPr>
        <p:spPr>
          <a:xfrm>
            <a:off x="4681728" y="4311396"/>
            <a:ext cx="566928" cy="566928"/>
          </a:xfrm>
          <a:prstGeom prst="ellipse">
            <a:avLst/>
          </a:prstGeom>
          <a:solidFill>
            <a:srgbClr val="B8862E"/>
          </a:solidFill>
          <a:ln/>
        </p:spPr>
        <p:txBody>
          <a:bodyPr/>
          <a:lstStyle/>
          <a:p>
            <a:endParaRPr lang="en-US"/>
          </a:p>
        </p:txBody>
      </p:sp>
      <p:pic>
        <p:nvPicPr>
          <p:cNvPr id="12" name="Image 2" descr="/home/claude/deck/assets/icons/folder-pinedeep.png"/>
          <p:cNvPicPr>
            <a:picLocks noChangeAspect="1"/>
          </p:cNvPicPr>
          <p:nvPr/>
        </p:nvPicPr>
        <p:blipFill>
          <a:blip r:embed="rId5"/>
          <a:stretch>
            <a:fillRect/>
          </a:stretch>
        </p:blipFill>
        <p:spPr>
          <a:xfrm>
            <a:off x="4817791" y="4447459"/>
            <a:ext cx="294803" cy="294803"/>
          </a:xfrm>
          <a:prstGeom prst="rect">
            <a:avLst/>
          </a:prstGeom>
        </p:spPr>
      </p:pic>
      <p:sp>
        <p:nvSpPr>
          <p:cNvPr id="13" name="Text 8"/>
          <p:cNvSpPr/>
          <p:nvPr/>
        </p:nvSpPr>
        <p:spPr>
          <a:xfrm>
            <a:off x="5413248" y="3977640"/>
            <a:ext cx="2194560" cy="1234440"/>
          </a:xfrm>
          <a:prstGeom prst="rect">
            <a:avLst/>
          </a:prstGeom>
          <a:noFill/>
          <a:ln/>
        </p:spPr>
        <p:txBody>
          <a:bodyPr wrap="square" rtlCol="0" anchor="ctr"/>
          <a:lstStyle/>
          <a:p>
            <a:pPr marL="0" indent="0" algn="l">
              <a:buNone/>
            </a:pPr>
            <a:r>
              <a:rPr lang="en-US" sz="1900" b="1" kern="0" spc="100" dirty="0">
                <a:solidFill>
                  <a:srgbClr val="FFFFFF"/>
                </a:solidFill>
                <a:latin typeface="Cambria" pitchFamily="34" charset="0"/>
                <a:ea typeface="Cambria" pitchFamily="34" charset="-122"/>
                <a:cs typeface="Cambria" pitchFamily="34" charset="-120"/>
              </a:rPr>
              <a:t>PROJECT</a:t>
            </a:r>
            <a:endParaRPr lang="en-US" sz="1900" dirty="0"/>
          </a:p>
        </p:txBody>
      </p:sp>
      <p:pic>
        <p:nvPicPr>
          <p:cNvPr id="14" name="Image 3" descr="/home/claude/deck/assets/icons/arrowright-amber.png"/>
          <p:cNvPicPr>
            <a:picLocks noChangeAspect="1"/>
          </p:cNvPicPr>
          <p:nvPr/>
        </p:nvPicPr>
        <p:blipFill>
          <a:blip r:embed="rId4"/>
          <a:stretch>
            <a:fillRect/>
          </a:stretch>
        </p:blipFill>
        <p:spPr>
          <a:xfrm>
            <a:off x="7763256" y="4448556"/>
            <a:ext cx="292608" cy="292608"/>
          </a:xfrm>
          <a:prstGeom prst="rect">
            <a:avLst/>
          </a:prstGeom>
        </p:spPr>
      </p:pic>
      <p:sp>
        <p:nvSpPr>
          <p:cNvPr id="15" name="Shape 9"/>
          <p:cNvSpPr/>
          <p:nvPr/>
        </p:nvSpPr>
        <p:spPr>
          <a:xfrm>
            <a:off x="8156448" y="3977640"/>
            <a:ext cx="3291840" cy="1234440"/>
          </a:xfrm>
          <a:prstGeom prst="roundRect">
            <a:avLst>
              <a:gd name="adj" fmla="val 6667"/>
            </a:avLst>
          </a:prstGeom>
          <a:solidFill>
            <a:srgbClr val="1F4741"/>
          </a:solidFill>
          <a:ln/>
        </p:spPr>
        <p:txBody>
          <a:bodyPr/>
          <a:lstStyle/>
          <a:p>
            <a:endParaRPr lang="en-US"/>
          </a:p>
        </p:txBody>
      </p:sp>
      <p:sp>
        <p:nvSpPr>
          <p:cNvPr id="16" name="Shape 10"/>
          <p:cNvSpPr/>
          <p:nvPr/>
        </p:nvSpPr>
        <p:spPr>
          <a:xfrm>
            <a:off x="8385048" y="4311396"/>
            <a:ext cx="566928" cy="566928"/>
          </a:xfrm>
          <a:prstGeom prst="ellipse">
            <a:avLst/>
          </a:prstGeom>
          <a:solidFill>
            <a:srgbClr val="B8862E"/>
          </a:solidFill>
          <a:ln/>
        </p:spPr>
        <p:txBody>
          <a:bodyPr/>
          <a:lstStyle/>
          <a:p>
            <a:endParaRPr lang="en-US"/>
          </a:p>
        </p:txBody>
      </p:sp>
      <p:pic>
        <p:nvPicPr>
          <p:cNvPr id="17" name="Image 4" descr="/home/claude/deck/assets/icons/layers-pinedeep.png"/>
          <p:cNvPicPr>
            <a:picLocks noChangeAspect="1"/>
          </p:cNvPicPr>
          <p:nvPr/>
        </p:nvPicPr>
        <p:blipFill>
          <a:blip r:embed="rId6"/>
          <a:stretch>
            <a:fillRect/>
          </a:stretch>
        </p:blipFill>
        <p:spPr>
          <a:xfrm>
            <a:off x="8521111" y="4447459"/>
            <a:ext cx="294803" cy="294803"/>
          </a:xfrm>
          <a:prstGeom prst="rect">
            <a:avLst/>
          </a:prstGeom>
        </p:spPr>
      </p:pic>
      <p:sp>
        <p:nvSpPr>
          <p:cNvPr id="18" name="Text 11"/>
          <p:cNvSpPr/>
          <p:nvPr/>
        </p:nvSpPr>
        <p:spPr>
          <a:xfrm>
            <a:off x="9116568" y="3977640"/>
            <a:ext cx="2194560" cy="1234440"/>
          </a:xfrm>
          <a:prstGeom prst="rect">
            <a:avLst/>
          </a:prstGeom>
          <a:noFill/>
          <a:ln/>
        </p:spPr>
        <p:txBody>
          <a:bodyPr wrap="square" rtlCol="0" anchor="ctr"/>
          <a:lstStyle/>
          <a:p>
            <a:pPr marL="0" indent="0" algn="l">
              <a:buNone/>
            </a:pPr>
            <a:r>
              <a:rPr lang="en-US" sz="1900" b="1" kern="0" spc="100" dirty="0">
                <a:solidFill>
                  <a:srgbClr val="FFFFFF"/>
                </a:solidFill>
                <a:latin typeface="Cambria" pitchFamily="34" charset="0"/>
                <a:ea typeface="Cambria" pitchFamily="34" charset="-122"/>
                <a:cs typeface="Cambria" pitchFamily="34" charset="-120"/>
              </a:rPr>
              <a:t>ARTIFACT</a:t>
            </a:r>
            <a:endParaRPr lang="en-US" sz="1900" dirty="0"/>
          </a:p>
        </p:txBody>
      </p:sp>
      <p:sp>
        <p:nvSpPr>
          <p:cNvPr id="19" name="Text 12"/>
          <p:cNvSpPr/>
          <p:nvPr/>
        </p:nvSpPr>
        <p:spPr>
          <a:xfrm>
            <a:off x="731520" y="5806440"/>
            <a:ext cx="9144000" cy="365760"/>
          </a:xfrm>
          <a:prstGeom prst="rect">
            <a:avLst/>
          </a:prstGeom>
          <a:noFill/>
          <a:ln/>
        </p:spPr>
        <p:txBody>
          <a:bodyPr wrap="square" rtlCol="0" anchor="ctr"/>
          <a:lstStyle/>
          <a:p>
            <a:pPr marL="0" indent="0" algn="l">
              <a:buNone/>
            </a:pPr>
            <a:r>
              <a:rPr lang="en-US" sz="1200" i="1" dirty="0">
                <a:solidFill>
                  <a:srgbClr val="D3E3DC"/>
                </a:solidFill>
                <a:latin typeface="Calibri" pitchFamily="34" charset="0"/>
                <a:ea typeface="Calibri" pitchFamily="34" charset="-122"/>
                <a:cs typeface="Calibri" pitchFamily="34" charset="-120"/>
              </a:rPr>
              <a:t>30 minutes  ·  Product, UX, engineering &amp; QA audiences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411480"/>
            <a:ext cx="10728655" cy="777240"/>
          </a:xfrm>
          <a:prstGeom prst="rect">
            <a:avLst/>
          </a:prstGeom>
          <a:noFill/>
          <a:ln/>
        </p:spPr>
        <p:txBody>
          <a:bodyPr wrap="square" rtlCol="0" anchor="ctr"/>
          <a:lstStyle/>
          <a:p>
            <a:pPr marL="0" indent="0" algn="l">
              <a:buNone/>
            </a:pPr>
            <a:r>
              <a:rPr lang="en-US" sz="3200" b="1" dirty="0">
                <a:solidFill>
                  <a:srgbClr val="14322D"/>
                </a:solidFill>
                <a:latin typeface="Cambria" pitchFamily="34" charset="0"/>
                <a:ea typeface="Cambria" pitchFamily="34" charset="-122"/>
                <a:cs typeface="Cambria" pitchFamily="34" charset="-120"/>
              </a:rPr>
              <a:t>Session Flow</a:t>
            </a:r>
            <a:endParaRPr lang="en-US" sz="3200" dirty="0"/>
          </a:p>
        </p:txBody>
      </p:sp>
      <p:sp>
        <p:nvSpPr>
          <p:cNvPr id="3" name="Text 1"/>
          <p:cNvSpPr/>
          <p:nvPr/>
        </p:nvSpPr>
        <p:spPr>
          <a:xfrm>
            <a:off x="731520" y="1051560"/>
            <a:ext cx="7315200" cy="320040"/>
          </a:xfrm>
          <a:prstGeom prst="rect">
            <a:avLst/>
          </a:prstGeom>
          <a:noFill/>
          <a:ln/>
        </p:spPr>
        <p:txBody>
          <a:bodyPr wrap="square" rtlCol="0" anchor="ctr"/>
          <a:lstStyle/>
          <a:p>
            <a:pPr marL="0" indent="0">
              <a:buNone/>
            </a:pPr>
            <a:r>
              <a:rPr lang="en-US" sz="1300" i="1" dirty="0">
                <a:solidFill>
                  <a:srgbClr val="4E5A57"/>
                </a:solidFill>
                <a:latin typeface="Calibri" pitchFamily="34" charset="0"/>
                <a:ea typeface="Calibri" pitchFamily="34" charset="-122"/>
                <a:cs typeface="Calibri" pitchFamily="34" charset="-120"/>
              </a:rPr>
              <a:t>30 minutes, live throughout</a:t>
            </a:r>
            <a:endParaRPr lang="en-US" sz="1300" dirty="0"/>
          </a:p>
        </p:txBody>
      </p:sp>
      <p:sp>
        <p:nvSpPr>
          <p:cNvPr id="4" name="Shape 2"/>
          <p:cNvSpPr/>
          <p:nvPr/>
        </p:nvSpPr>
        <p:spPr>
          <a:xfrm>
            <a:off x="731520" y="1600200"/>
            <a:ext cx="10728655" cy="548640"/>
          </a:xfrm>
          <a:prstGeom prst="roundRect">
            <a:avLst>
              <a:gd name="adj" fmla="val 10000"/>
            </a:avLst>
          </a:prstGeom>
          <a:solidFill>
            <a:srgbClr val="FFFFFF"/>
          </a:solidFill>
          <a:ln w="9525">
            <a:solidFill>
              <a:srgbClr val="D8DED9"/>
            </a:solidFill>
            <a:prstDash val="solid"/>
          </a:ln>
        </p:spPr>
        <p:txBody>
          <a:bodyPr/>
          <a:lstStyle/>
          <a:p>
            <a:endParaRPr lang="en-US"/>
          </a:p>
        </p:txBody>
      </p:sp>
      <p:sp>
        <p:nvSpPr>
          <p:cNvPr id="5" name="Shape 3"/>
          <p:cNvSpPr/>
          <p:nvPr/>
        </p:nvSpPr>
        <p:spPr>
          <a:xfrm>
            <a:off x="841248" y="1673352"/>
            <a:ext cx="1234440" cy="402336"/>
          </a:xfrm>
          <a:prstGeom prst="roundRect">
            <a:avLst>
              <a:gd name="adj" fmla="val 18182"/>
            </a:avLst>
          </a:prstGeom>
          <a:solidFill>
            <a:srgbClr val="14322D"/>
          </a:solidFill>
          <a:ln/>
        </p:spPr>
        <p:txBody>
          <a:bodyPr/>
          <a:lstStyle/>
          <a:p>
            <a:endParaRPr lang="en-US"/>
          </a:p>
        </p:txBody>
      </p:sp>
      <p:sp>
        <p:nvSpPr>
          <p:cNvPr id="6" name="Text 4"/>
          <p:cNvSpPr/>
          <p:nvPr/>
        </p:nvSpPr>
        <p:spPr>
          <a:xfrm>
            <a:off x="914400" y="1673352"/>
            <a:ext cx="1088136" cy="402336"/>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0:00–0:03</a:t>
            </a:r>
            <a:endParaRPr lang="en-US" sz="1200" dirty="0"/>
          </a:p>
        </p:txBody>
      </p:sp>
      <p:sp>
        <p:nvSpPr>
          <p:cNvPr id="7" name="Text 5"/>
          <p:cNvSpPr/>
          <p:nvPr/>
        </p:nvSpPr>
        <p:spPr>
          <a:xfrm>
            <a:off x="2240280" y="1600200"/>
            <a:ext cx="6035040" cy="548640"/>
          </a:xfrm>
          <a:prstGeom prst="rect">
            <a:avLst/>
          </a:prstGeom>
          <a:noFill/>
          <a:ln/>
        </p:spPr>
        <p:txBody>
          <a:bodyPr wrap="square" rtlCol="0" anchor="ctr"/>
          <a:lstStyle/>
          <a:p>
            <a:pPr marL="0" indent="0">
              <a:buNone/>
            </a:pPr>
            <a:r>
              <a:rPr lang="en-US" sz="1400" dirty="0">
                <a:solidFill>
                  <a:srgbClr val="1B2624"/>
                </a:solidFill>
                <a:latin typeface="Calibri" pitchFamily="34" charset="0"/>
                <a:ea typeface="Calibri" pitchFamily="34" charset="-122"/>
                <a:cs typeface="Calibri" pitchFamily="34" charset="-120"/>
              </a:rPr>
              <a:t>Problem and concept</a:t>
            </a:r>
            <a:endParaRPr lang="en-US" sz="1400" dirty="0"/>
          </a:p>
        </p:txBody>
      </p:sp>
      <p:sp>
        <p:nvSpPr>
          <p:cNvPr id="8" name="Shape 6"/>
          <p:cNvSpPr/>
          <p:nvPr/>
        </p:nvSpPr>
        <p:spPr>
          <a:xfrm>
            <a:off x="8168335" y="1673352"/>
            <a:ext cx="3200400" cy="402336"/>
          </a:xfrm>
          <a:prstGeom prst="roundRect">
            <a:avLst>
              <a:gd name="adj" fmla="val 18182"/>
            </a:avLst>
          </a:prstGeom>
          <a:solidFill>
            <a:srgbClr val="E1EAE6"/>
          </a:solidFill>
          <a:ln/>
        </p:spPr>
        <p:txBody>
          <a:bodyPr/>
          <a:lstStyle/>
          <a:p>
            <a:endParaRPr lang="en-US"/>
          </a:p>
        </p:txBody>
      </p:sp>
      <p:sp>
        <p:nvSpPr>
          <p:cNvPr id="9" name="Text 7"/>
          <p:cNvSpPr/>
          <p:nvPr/>
        </p:nvSpPr>
        <p:spPr>
          <a:xfrm>
            <a:off x="8241487" y="1673352"/>
            <a:ext cx="3054096" cy="402336"/>
          </a:xfrm>
          <a:prstGeom prst="rect">
            <a:avLst/>
          </a:prstGeom>
          <a:noFill/>
          <a:ln/>
        </p:spPr>
        <p:txBody>
          <a:bodyPr wrap="square" rtlCol="0" anchor="ctr"/>
          <a:lstStyle/>
          <a:p>
            <a:pPr marL="0" indent="0" algn="ctr">
              <a:buNone/>
            </a:pPr>
            <a:r>
              <a:rPr lang="en-US" sz="1100" b="1" dirty="0">
                <a:solidFill>
                  <a:srgbClr val="1F4741"/>
                </a:solidFill>
                <a:latin typeface="Calibri" pitchFamily="34" charset="0"/>
                <a:ea typeface="Calibri" pitchFamily="34" charset="-122"/>
                <a:cs typeface="Calibri" pitchFamily="34" charset="-120"/>
              </a:rPr>
              <a:t>Slides 1–2</a:t>
            </a:r>
            <a:endParaRPr lang="en-US" sz="1100" dirty="0"/>
          </a:p>
        </p:txBody>
      </p:sp>
      <p:sp>
        <p:nvSpPr>
          <p:cNvPr id="10" name="Shape 8"/>
          <p:cNvSpPr/>
          <p:nvPr/>
        </p:nvSpPr>
        <p:spPr>
          <a:xfrm>
            <a:off x="731520" y="2221992"/>
            <a:ext cx="10728655" cy="548640"/>
          </a:xfrm>
          <a:prstGeom prst="roundRect">
            <a:avLst>
              <a:gd name="adj" fmla="val 10000"/>
            </a:avLst>
          </a:prstGeom>
          <a:solidFill>
            <a:srgbClr val="E1EAE6"/>
          </a:solidFill>
          <a:ln w="9525">
            <a:solidFill>
              <a:srgbClr val="D8DED9"/>
            </a:solidFill>
            <a:prstDash val="solid"/>
          </a:ln>
        </p:spPr>
        <p:txBody>
          <a:bodyPr/>
          <a:lstStyle/>
          <a:p>
            <a:endParaRPr lang="en-US"/>
          </a:p>
        </p:txBody>
      </p:sp>
      <p:sp>
        <p:nvSpPr>
          <p:cNvPr id="11" name="Shape 9"/>
          <p:cNvSpPr/>
          <p:nvPr/>
        </p:nvSpPr>
        <p:spPr>
          <a:xfrm>
            <a:off x="841248" y="2295144"/>
            <a:ext cx="1234440" cy="402336"/>
          </a:xfrm>
          <a:prstGeom prst="roundRect">
            <a:avLst>
              <a:gd name="adj" fmla="val 18182"/>
            </a:avLst>
          </a:prstGeom>
          <a:solidFill>
            <a:srgbClr val="14322D"/>
          </a:solidFill>
          <a:ln/>
        </p:spPr>
        <p:txBody>
          <a:bodyPr/>
          <a:lstStyle/>
          <a:p>
            <a:endParaRPr lang="en-US"/>
          </a:p>
        </p:txBody>
      </p:sp>
      <p:sp>
        <p:nvSpPr>
          <p:cNvPr id="12" name="Text 10"/>
          <p:cNvSpPr/>
          <p:nvPr/>
        </p:nvSpPr>
        <p:spPr>
          <a:xfrm>
            <a:off x="914400" y="2295144"/>
            <a:ext cx="1088136" cy="402336"/>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0:03–0:07</a:t>
            </a:r>
            <a:endParaRPr lang="en-US" sz="1200" dirty="0"/>
          </a:p>
        </p:txBody>
      </p:sp>
      <p:sp>
        <p:nvSpPr>
          <p:cNvPr id="13" name="Text 11"/>
          <p:cNvSpPr/>
          <p:nvPr/>
        </p:nvSpPr>
        <p:spPr>
          <a:xfrm>
            <a:off x="2240280" y="2221992"/>
            <a:ext cx="6035040" cy="548640"/>
          </a:xfrm>
          <a:prstGeom prst="rect">
            <a:avLst/>
          </a:prstGeom>
          <a:noFill/>
          <a:ln/>
        </p:spPr>
        <p:txBody>
          <a:bodyPr wrap="square" rtlCol="0" anchor="ctr"/>
          <a:lstStyle/>
          <a:p>
            <a:pPr marL="0" indent="0">
              <a:buNone/>
            </a:pPr>
            <a:r>
              <a:rPr lang="en-US" sz="1400" dirty="0">
                <a:solidFill>
                  <a:srgbClr val="1B2624"/>
                </a:solidFill>
                <a:latin typeface="Calibri" pitchFamily="34" charset="0"/>
                <a:ea typeface="Calibri" pitchFamily="34" charset="-122"/>
                <a:cs typeface="Calibri" pitchFamily="34" charset="-120"/>
              </a:rPr>
              <a:t>Explore the Pet Care Coach Project</a:t>
            </a:r>
            <a:endParaRPr lang="en-US" sz="1400" dirty="0"/>
          </a:p>
        </p:txBody>
      </p:sp>
      <p:sp>
        <p:nvSpPr>
          <p:cNvPr id="14" name="Shape 12"/>
          <p:cNvSpPr/>
          <p:nvPr/>
        </p:nvSpPr>
        <p:spPr>
          <a:xfrm>
            <a:off x="8168335" y="2295144"/>
            <a:ext cx="3200400" cy="402336"/>
          </a:xfrm>
          <a:prstGeom prst="roundRect">
            <a:avLst>
              <a:gd name="adj" fmla="val 18182"/>
            </a:avLst>
          </a:prstGeom>
          <a:solidFill>
            <a:srgbClr val="F3E6CC"/>
          </a:solidFill>
          <a:ln/>
        </p:spPr>
        <p:txBody>
          <a:bodyPr/>
          <a:lstStyle/>
          <a:p>
            <a:endParaRPr lang="en-US"/>
          </a:p>
        </p:txBody>
      </p:sp>
      <p:sp>
        <p:nvSpPr>
          <p:cNvPr id="15" name="Text 13"/>
          <p:cNvSpPr/>
          <p:nvPr/>
        </p:nvSpPr>
        <p:spPr>
          <a:xfrm>
            <a:off x="8241487" y="2295144"/>
            <a:ext cx="3054096" cy="402336"/>
          </a:xfrm>
          <a:prstGeom prst="rect">
            <a:avLst/>
          </a:prstGeom>
          <a:noFill/>
          <a:ln/>
        </p:spPr>
        <p:txBody>
          <a:bodyPr wrap="square" rtlCol="0" anchor="ctr"/>
          <a:lstStyle/>
          <a:p>
            <a:pPr marL="0" indent="0" algn="ctr">
              <a:buNone/>
            </a:pPr>
            <a:r>
              <a:rPr lang="en-US" sz="1100" b="1" dirty="0">
                <a:solidFill>
                  <a:srgbClr val="B8862E"/>
                </a:solidFill>
                <a:latin typeface="Calibri" pitchFamily="34" charset="0"/>
                <a:ea typeface="Calibri" pitchFamily="34" charset="-122"/>
                <a:cs typeface="Calibri" pitchFamily="34" charset="-120"/>
              </a:rPr>
              <a:t>▶  Live Claude Project</a:t>
            </a:r>
            <a:endParaRPr lang="en-US" sz="1100" dirty="0"/>
          </a:p>
        </p:txBody>
      </p:sp>
      <p:sp>
        <p:nvSpPr>
          <p:cNvPr id="16" name="Shape 14"/>
          <p:cNvSpPr/>
          <p:nvPr/>
        </p:nvSpPr>
        <p:spPr>
          <a:xfrm>
            <a:off x="731520" y="2843784"/>
            <a:ext cx="10728655" cy="548640"/>
          </a:xfrm>
          <a:prstGeom prst="roundRect">
            <a:avLst>
              <a:gd name="adj" fmla="val 10000"/>
            </a:avLst>
          </a:prstGeom>
          <a:solidFill>
            <a:srgbClr val="FFFFFF"/>
          </a:solidFill>
          <a:ln w="9525">
            <a:solidFill>
              <a:srgbClr val="D8DED9"/>
            </a:solidFill>
            <a:prstDash val="solid"/>
          </a:ln>
        </p:spPr>
        <p:txBody>
          <a:bodyPr/>
          <a:lstStyle/>
          <a:p>
            <a:endParaRPr lang="en-US"/>
          </a:p>
        </p:txBody>
      </p:sp>
      <p:sp>
        <p:nvSpPr>
          <p:cNvPr id="17" name="Shape 15"/>
          <p:cNvSpPr/>
          <p:nvPr/>
        </p:nvSpPr>
        <p:spPr>
          <a:xfrm>
            <a:off x="841248" y="2916936"/>
            <a:ext cx="1234440" cy="402336"/>
          </a:xfrm>
          <a:prstGeom prst="roundRect">
            <a:avLst>
              <a:gd name="adj" fmla="val 18182"/>
            </a:avLst>
          </a:prstGeom>
          <a:solidFill>
            <a:srgbClr val="14322D"/>
          </a:solidFill>
          <a:ln/>
        </p:spPr>
        <p:txBody>
          <a:bodyPr/>
          <a:lstStyle/>
          <a:p>
            <a:endParaRPr lang="en-US"/>
          </a:p>
        </p:txBody>
      </p:sp>
      <p:sp>
        <p:nvSpPr>
          <p:cNvPr id="18" name="Text 16"/>
          <p:cNvSpPr/>
          <p:nvPr/>
        </p:nvSpPr>
        <p:spPr>
          <a:xfrm>
            <a:off x="914400" y="2916936"/>
            <a:ext cx="1088136" cy="402336"/>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0:07–0:12</a:t>
            </a:r>
            <a:endParaRPr lang="en-US" sz="1200" dirty="0"/>
          </a:p>
        </p:txBody>
      </p:sp>
      <p:sp>
        <p:nvSpPr>
          <p:cNvPr id="19" name="Text 17"/>
          <p:cNvSpPr/>
          <p:nvPr/>
        </p:nvSpPr>
        <p:spPr>
          <a:xfrm>
            <a:off x="2240280" y="2843784"/>
            <a:ext cx="6035040" cy="548640"/>
          </a:xfrm>
          <a:prstGeom prst="rect">
            <a:avLst/>
          </a:prstGeom>
          <a:noFill/>
          <a:ln/>
        </p:spPr>
        <p:txBody>
          <a:bodyPr wrap="square" rtlCol="0" anchor="ctr"/>
          <a:lstStyle/>
          <a:p>
            <a:pPr marL="0" indent="0">
              <a:buNone/>
            </a:pPr>
            <a:r>
              <a:rPr lang="en-US" sz="1400" dirty="0">
                <a:solidFill>
                  <a:srgbClr val="1B2624"/>
                </a:solidFill>
                <a:latin typeface="Calibri" pitchFamily="34" charset="0"/>
                <a:ea typeface="Calibri" pitchFamily="34" charset="-122"/>
                <a:cs typeface="Calibri" pitchFamily="34" charset="-120"/>
              </a:rPr>
              <a:t>Run grounded prompts in two chats</a:t>
            </a:r>
            <a:endParaRPr lang="en-US" sz="1400" dirty="0"/>
          </a:p>
        </p:txBody>
      </p:sp>
      <p:sp>
        <p:nvSpPr>
          <p:cNvPr id="20" name="Shape 18"/>
          <p:cNvSpPr/>
          <p:nvPr/>
        </p:nvSpPr>
        <p:spPr>
          <a:xfrm>
            <a:off x="8168335" y="2916936"/>
            <a:ext cx="3200400" cy="402336"/>
          </a:xfrm>
          <a:prstGeom prst="roundRect">
            <a:avLst>
              <a:gd name="adj" fmla="val 18182"/>
            </a:avLst>
          </a:prstGeom>
          <a:solidFill>
            <a:srgbClr val="F3E6CC"/>
          </a:solidFill>
          <a:ln/>
        </p:spPr>
        <p:txBody>
          <a:bodyPr/>
          <a:lstStyle/>
          <a:p>
            <a:endParaRPr lang="en-US"/>
          </a:p>
        </p:txBody>
      </p:sp>
      <p:sp>
        <p:nvSpPr>
          <p:cNvPr id="21" name="Text 19"/>
          <p:cNvSpPr/>
          <p:nvPr/>
        </p:nvSpPr>
        <p:spPr>
          <a:xfrm>
            <a:off x="8241487" y="2916936"/>
            <a:ext cx="3054096" cy="402336"/>
          </a:xfrm>
          <a:prstGeom prst="rect">
            <a:avLst/>
          </a:prstGeom>
          <a:noFill/>
          <a:ln/>
        </p:spPr>
        <p:txBody>
          <a:bodyPr wrap="square" rtlCol="0" anchor="ctr"/>
          <a:lstStyle/>
          <a:p>
            <a:pPr marL="0" indent="0" algn="ctr">
              <a:buNone/>
            </a:pPr>
            <a:r>
              <a:rPr lang="en-US" sz="1100" b="1" dirty="0">
                <a:solidFill>
                  <a:srgbClr val="B8862E"/>
                </a:solidFill>
                <a:latin typeface="Calibri" pitchFamily="34" charset="0"/>
                <a:ea typeface="Calibri" pitchFamily="34" charset="-122"/>
                <a:cs typeface="Calibri" pitchFamily="34" charset="-120"/>
              </a:rPr>
              <a:t>▶  Live Claude chats</a:t>
            </a:r>
            <a:endParaRPr lang="en-US" sz="1100" dirty="0"/>
          </a:p>
        </p:txBody>
      </p:sp>
      <p:sp>
        <p:nvSpPr>
          <p:cNvPr id="22" name="Shape 20"/>
          <p:cNvSpPr/>
          <p:nvPr/>
        </p:nvSpPr>
        <p:spPr>
          <a:xfrm>
            <a:off x="731520" y="3465576"/>
            <a:ext cx="10728655" cy="548640"/>
          </a:xfrm>
          <a:prstGeom prst="roundRect">
            <a:avLst>
              <a:gd name="adj" fmla="val 10000"/>
            </a:avLst>
          </a:prstGeom>
          <a:solidFill>
            <a:srgbClr val="E1EAE6"/>
          </a:solidFill>
          <a:ln w="9525">
            <a:solidFill>
              <a:srgbClr val="D8DED9"/>
            </a:solidFill>
            <a:prstDash val="solid"/>
          </a:ln>
        </p:spPr>
        <p:txBody>
          <a:bodyPr/>
          <a:lstStyle/>
          <a:p>
            <a:endParaRPr lang="en-US"/>
          </a:p>
        </p:txBody>
      </p:sp>
      <p:sp>
        <p:nvSpPr>
          <p:cNvPr id="23" name="Shape 21"/>
          <p:cNvSpPr/>
          <p:nvPr/>
        </p:nvSpPr>
        <p:spPr>
          <a:xfrm>
            <a:off x="841248" y="3538728"/>
            <a:ext cx="1234440" cy="402336"/>
          </a:xfrm>
          <a:prstGeom prst="roundRect">
            <a:avLst>
              <a:gd name="adj" fmla="val 18182"/>
            </a:avLst>
          </a:prstGeom>
          <a:solidFill>
            <a:srgbClr val="14322D"/>
          </a:solidFill>
          <a:ln/>
        </p:spPr>
        <p:txBody>
          <a:bodyPr/>
          <a:lstStyle/>
          <a:p>
            <a:endParaRPr lang="en-US"/>
          </a:p>
        </p:txBody>
      </p:sp>
      <p:sp>
        <p:nvSpPr>
          <p:cNvPr id="24" name="Text 22"/>
          <p:cNvSpPr/>
          <p:nvPr/>
        </p:nvSpPr>
        <p:spPr>
          <a:xfrm>
            <a:off x="914400" y="3538728"/>
            <a:ext cx="1088136" cy="402336"/>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0:12–0:19</a:t>
            </a:r>
            <a:endParaRPr lang="en-US" sz="1200" dirty="0"/>
          </a:p>
        </p:txBody>
      </p:sp>
      <p:sp>
        <p:nvSpPr>
          <p:cNvPr id="25" name="Text 23"/>
          <p:cNvSpPr/>
          <p:nvPr/>
        </p:nvSpPr>
        <p:spPr>
          <a:xfrm>
            <a:off x="2240280" y="3465576"/>
            <a:ext cx="6035040" cy="548640"/>
          </a:xfrm>
          <a:prstGeom prst="rect">
            <a:avLst/>
          </a:prstGeom>
          <a:noFill/>
          <a:ln/>
        </p:spPr>
        <p:txBody>
          <a:bodyPr wrap="square" rtlCol="0" anchor="ctr"/>
          <a:lstStyle/>
          <a:p>
            <a:pPr marL="0" indent="0">
              <a:buNone/>
            </a:pPr>
            <a:r>
              <a:rPr lang="en-US" sz="1400" dirty="0">
                <a:solidFill>
                  <a:srgbClr val="1B2624"/>
                </a:solidFill>
                <a:latin typeface="Calibri" pitchFamily="34" charset="0"/>
                <a:ea typeface="Calibri" pitchFamily="34" charset="-122"/>
                <a:cs typeface="Calibri" pitchFamily="34" charset="-120"/>
              </a:rPr>
              <a:t>Explore the Journey Explorer Artifact</a:t>
            </a:r>
            <a:endParaRPr lang="en-US" sz="1400" dirty="0"/>
          </a:p>
        </p:txBody>
      </p:sp>
      <p:sp>
        <p:nvSpPr>
          <p:cNvPr id="26" name="Shape 24"/>
          <p:cNvSpPr/>
          <p:nvPr/>
        </p:nvSpPr>
        <p:spPr>
          <a:xfrm>
            <a:off x="8168335" y="3538728"/>
            <a:ext cx="3200400" cy="402336"/>
          </a:xfrm>
          <a:prstGeom prst="roundRect">
            <a:avLst>
              <a:gd name="adj" fmla="val 18182"/>
            </a:avLst>
          </a:prstGeom>
          <a:solidFill>
            <a:srgbClr val="F3E6CC"/>
          </a:solidFill>
          <a:ln/>
        </p:spPr>
        <p:txBody>
          <a:bodyPr/>
          <a:lstStyle/>
          <a:p>
            <a:endParaRPr lang="en-US"/>
          </a:p>
        </p:txBody>
      </p:sp>
      <p:sp>
        <p:nvSpPr>
          <p:cNvPr id="27" name="Text 25"/>
          <p:cNvSpPr/>
          <p:nvPr/>
        </p:nvSpPr>
        <p:spPr>
          <a:xfrm>
            <a:off x="8241487" y="3538728"/>
            <a:ext cx="3054096" cy="402336"/>
          </a:xfrm>
          <a:prstGeom prst="rect">
            <a:avLst/>
          </a:prstGeom>
          <a:noFill/>
          <a:ln/>
        </p:spPr>
        <p:txBody>
          <a:bodyPr wrap="square" rtlCol="0" anchor="ctr"/>
          <a:lstStyle/>
          <a:p>
            <a:pPr marL="0" indent="0" algn="ctr">
              <a:buNone/>
            </a:pPr>
            <a:r>
              <a:rPr lang="en-US" sz="1100" b="1" dirty="0">
                <a:solidFill>
                  <a:srgbClr val="B8862E"/>
                </a:solidFill>
                <a:latin typeface="Calibri" pitchFamily="34" charset="0"/>
                <a:ea typeface="Calibri" pitchFamily="34" charset="-122"/>
                <a:cs typeface="Calibri" pitchFamily="34" charset="-120"/>
              </a:rPr>
              <a:t>▶  Live Artifact</a:t>
            </a:r>
            <a:endParaRPr lang="en-US" sz="1100" dirty="0"/>
          </a:p>
        </p:txBody>
      </p:sp>
      <p:sp>
        <p:nvSpPr>
          <p:cNvPr id="28" name="Shape 26"/>
          <p:cNvSpPr/>
          <p:nvPr/>
        </p:nvSpPr>
        <p:spPr>
          <a:xfrm>
            <a:off x="731520" y="4087368"/>
            <a:ext cx="10728655" cy="548640"/>
          </a:xfrm>
          <a:prstGeom prst="roundRect">
            <a:avLst>
              <a:gd name="adj" fmla="val 10000"/>
            </a:avLst>
          </a:prstGeom>
          <a:solidFill>
            <a:srgbClr val="FFFFFF"/>
          </a:solidFill>
          <a:ln w="9525">
            <a:solidFill>
              <a:srgbClr val="D8DED9"/>
            </a:solidFill>
            <a:prstDash val="solid"/>
          </a:ln>
        </p:spPr>
        <p:txBody>
          <a:bodyPr/>
          <a:lstStyle/>
          <a:p>
            <a:endParaRPr lang="en-US"/>
          </a:p>
        </p:txBody>
      </p:sp>
      <p:sp>
        <p:nvSpPr>
          <p:cNvPr id="29" name="Shape 27"/>
          <p:cNvSpPr/>
          <p:nvPr/>
        </p:nvSpPr>
        <p:spPr>
          <a:xfrm>
            <a:off x="841248" y="4160520"/>
            <a:ext cx="1234440" cy="402336"/>
          </a:xfrm>
          <a:prstGeom prst="roundRect">
            <a:avLst>
              <a:gd name="adj" fmla="val 18182"/>
            </a:avLst>
          </a:prstGeom>
          <a:solidFill>
            <a:srgbClr val="14322D"/>
          </a:solidFill>
          <a:ln/>
        </p:spPr>
        <p:txBody>
          <a:bodyPr/>
          <a:lstStyle/>
          <a:p>
            <a:endParaRPr lang="en-US"/>
          </a:p>
        </p:txBody>
      </p:sp>
      <p:sp>
        <p:nvSpPr>
          <p:cNvPr id="30" name="Text 28"/>
          <p:cNvSpPr/>
          <p:nvPr/>
        </p:nvSpPr>
        <p:spPr>
          <a:xfrm>
            <a:off x="914400" y="4160520"/>
            <a:ext cx="1088136" cy="402336"/>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0:19–0:25</a:t>
            </a:r>
            <a:endParaRPr lang="en-US" sz="1200" dirty="0"/>
          </a:p>
        </p:txBody>
      </p:sp>
      <p:sp>
        <p:nvSpPr>
          <p:cNvPr id="31" name="Text 29"/>
          <p:cNvSpPr/>
          <p:nvPr/>
        </p:nvSpPr>
        <p:spPr>
          <a:xfrm>
            <a:off x="2240280" y="4087368"/>
            <a:ext cx="6035040" cy="548640"/>
          </a:xfrm>
          <a:prstGeom prst="rect">
            <a:avLst/>
          </a:prstGeom>
          <a:noFill/>
          <a:ln/>
        </p:spPr>
        <p:txBody>
          <a:bodyPr wrap="square" rtlCol="0" anchor="ctr"/>
          <a:lstStyle/>
          <a:p>
            <a:pPr marL="0" indent="0">
              <a:buNone/>
            </a:pPr>
            <a:r>
              <a:rPr lang="en-US" sz="1400" dirty="0">
                <a:solidFill>
                  <a:srgbClr val="1B2624"/>
                </a:solidFill>
                <a:latin typeface="Calibri" pitchFamily="34" charset="0"/>
                <a:ea typeface="Calibri" pitchFamily="34" charset="-122"/>
                <a:cs typeface="Calibri" pitchFamily="34" charset="-120"/>
              </a:rPr>
              <a:t>Add QA Coverage Mode</a:t>
            </a:r>
            <a:endParaRPr lang="en-US" sz="1400" dirty="0"/>
          </a:p>
        </p:txBody>
      </p:sp>
      <p:sp>
        <p:nvSpPr>
          <p:cNvPr id="32" name="Shape 30"/>
          <p:cNvSpPr/>
          <p:nvPr/>
        </p:nvSpPr>
        <p:spPr>
          <a:xfrm>
            <a:off x="8168335" y="4160520"/>
            <a:ext cx="3200400" cy="402336"/>
          </a:xfrm>
          <a:prstGeom prst="roundRect">
            <a:avLst>
              <a:gd name="adj" fmla="val 18182"/>
            </a:avLst>
          </a:prstGeom>
          <a:solidFill>
            <a:srgbClr val="F3E6CC"/>
          </a:solidFill>
          <a:ln/>
        </p:spPr>
        <p:txBody>
          <a:bodyPr/>
          <a:lstStyle/>
          <a:p>
            <a:endParaRPr lang="en-US"/>
          </a:p>
        </p:txBody>
      </p:sp>
      <p:sp>
        <p:nvSpPr>
          <p:cNvPr id="33" name="Text 31"/>
          <p:cNvSpPr/>
          <p:nvPr/>
        </p:nvSpPr>
        <p:spPr>
          <a:xfrm>
            <a:off x="8241487" y="4160520"/>
            <a:ext cx="3054096" cy="402336"/>
          </a:xfrm>
          <a:prstGeom prst="rect">
            <a:avLst/>
          </a:prstGeom>
          <a:noFill/>
          <a:ln/>
        </p:spPr>
        <p:txBody>
          <a:bodyPr wrap="square" rtlCol="0" anchor="ctr"/>
          <a:lstStyle/>
          <a:p>
            <a:pPr marL="0" indent="0" algn="ctr">
              <a:buNone/>
            </a:pPr>
            <a:r>
              <a:rPr lang="en-US" sz="1100" b="1" dirty="0">
                <a:solidFill>
                  <a:srgbClr val="B8862E"/>
                </a:solidFill>
                <a:latin typeface="Calibri" pitchFamily="34" charset="0"/>
                <a:ea typeface="Calibri" pitchFamily="34" charset="-122"/>
                <a:cs typeface="Calibri" pitchFamily="34" charset="-120"/>
              </a:rPr>
              <a:t>▶  Live Artifact enhancement</a:t>
            </a:r>
            <a:endParaRPr lang="en-US" sz="1100" dirty="0"/>
          </a:p>
        </p:txBody>
      </p:sp>
      <p:sp>
        <p:nvSpPr>
          <p:cNvPr id="34" name="Shape 32"/>
          <p:cNvSpPr/>
          <p:nvPr/>
        </p:nvSpPr>
        <p:spPr>
          <a:xfrm>
            <a:off x="731520" y="4709160"/>
            <a:ext cx="10728655" cy="548640"/>
          </a:xfrm>
          <a:prstGeom prst="roundRect">
            <a:avLst>
              <a:gd name="adj" fmla="val 10000"/>
            </a:avLst>
          </a:prstGeom>
          <a:solidFill>
            <a:srgbClr val="E1EAE6"/>
          </a:solidFill>
          <a:ln w="9525">
            <a:solidFill>
              <a:srgbClr val="D8DED9"/>
            </a:solidFill>
            <a:prstDash val="solid"/>
          </a:ln>
        </p:spPr>
        <p:txBody>
          <a:bodyPr/>
          <a:lstStyle/>
          <a:p>
            <a:endParaRPr lang="en-US"/>
          </a:p>
        </p:txBody>
      </p:sp>
      <p:sp>
        <p:nvSpPr>
          <p:cNvPr id="35" name="Shape 33"/>
          <p:cNvSpPr/>
          <p:nvPr/>
        </p:nvSpPr>
        <p:spPr>
          <a:xfrm>
            <a:off x="841248" y="4782312"/>
            <a:ext cx="1234440" cy="402336"/>
          </a:xfrm>
          <a:prstGeom prst="roundRect">
            <a:avLst>
              <a:gd name="adj" fmla="val 18182"/>
            </a:avLst>
          </a:prstGeom>
          <a:solidFill>
            <a:srgbClr val="14322D"/>
          </a:solidFill>
          <a:ln/>
        </p:spPr>
        <p:txBody>
          <a:bodyPr/>
          <a:lstStyle/>
          <a:p>
            <a:endParaRPr lang="en-US"/>
          </a:p>
        </p:txBody>
      </p:sp>
      <p:sp>
        <p:nvSpPr>
          <p:cNvPr id="36" name="Text 34"/>
          <p:cNvSpPr/>
          <p:nvPr/>
        </p:nvSpPr>
        <p:spPr>
          <a:xfrm>
            <a:off x="914400" y="4782312"/>
            <a:ext cx="1088136" cy="402336"/>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0:25–0:28</a:t>
            </a:r>
            <a:endParaRPr lang="en-US" sz="1200" dirty="0"/>
          </a:p>
        </p:txBody>
      </p:sp>
      <p:sp>
        <p:nvSpPr>
          <p:cNvPr id="37" name="Text 35"/>
          <p:cNvSpPr/>
          <p:nvPr/>
        </p:nvSpPr>
        <p:spPr>
          <a:xfrm>
            <a:off x="2240280" y="4709160"/>
            <a:ext cx="6035040" cy="548640"/>
          </a:xfrm>
          <a:prstGeom prst="rect">
            <a:avLst/>
          </a:prstGeom>
          <a:noFill/>
          <a:ln/>
        </p:spPr>
        <p:txBody>
          <a:bodyPr wrap="square" rtlCol="0" anchor="ctr"/>
          <a:lstStyle/>
          <a:p>
            <a:pPr marL="0" indent="0">
              <a:buNone/>
            </a:pPr>
            <a:r>
              <a:rPr lang="en-US" sz="1400" dirty="0">
                <a:solidFill>
                  <a:srgbClr val="1B2624"/>
                </a:solidFill>
                <a:latin typeface="Calibri" pitchFamily="34" charset="0"/>
                <a:ea typeface="Calibri" pitchFamily="34" charset="-122"/>
                <a:cs typeface="Calibri" pitchFamily="34" charset="-120"/>
              </a:rPr>
              <a:t>Explain what happened</a:t>
            </a:r>
            <a:endParaRPr lang="en-US" sz="1400" dirty="0"/>
          </a:p>
        </p:txBody>
      </p:sp>
      <p:sp>
        <p:nvSpPr>
          <p:cNvPr id="38" name="Shape 36"/>
          <p:cNvSpPr/>
          <p:nvPr/>
        </p:nvSpPr>
        <p:spPr>
          <a:xfrm>
            <a:off x="8168335" y="4782312"/>
            <a:ext cx="3200400" cy="402336"/>
          </a:xfrm>
          <a:prstGeom prst="roundRect">
            <a:avLst>
              <a:gd name="adj" fmla="val 18182"/>
            </a:avLst>
          </a:prstGeom>
          <a:solidFill>
            <a:srgbClr val="E1EAE6"/>
          </a:solidFill>
          <a:ln/>
        </p:spPr>
        <p:txBody>
          <a:bodyPr/>
          <a:lstStyle/>
          <a:p>
            <a:endParaRPr lang="en-US"/>
          </a:p>
        </p:txBody>
      </p:sp>
      <p:sp>
        <p:nvSpPr>
          <p:cNvPr id="39" name="Text 37"/>
          <p:cNvSpPr/>
          <p:nvPr/>
        </p:nvSpPr>
        <p:spPr>
          <a:xfrm>
            <a:off x="8241487" y="4782312"/>
            <a:ext cx="3054096" cy="402336"/>
          </a:xfrm>
          <a:prstGeom prst="rect">
            <a:avLst/>
          </a:prstGeom>
          <a:noFill/>
          <a:ln/>
        </p:spPr>
        <p:txBody>
          <a:bodyPr wrap="square" rtlCol="0" anchor="ctr"/>
          <a:lstStyle/>
          <a:p>
            <a:pPr marL="0" indent="0" algn="ctr">
              <a:buNone/>
            </a:pPr>
            <a:r>
              <a:rPr lang="en-US" sz="1100" b="1" dirty="0">
                <a:solidFill>
                  <a:srgbClr val="1F4741"/>
                </a:solidFill>
                <a:latin typeface="Calibri" pitchFamily="34" charset="0"/>
                <a:ea typeface="Calibri" pitchFamily="34" charset="-122"/>
                <a:cs typeface="Calibri" pitchFamily="34" charset="-120"/>
              </a:rPr>
              <a:t>Slide 3</a:t>
            </a:r>
            <a:endParaRPr lang="en-US" sz="1100" dirty="0"/>
          </a:p>
        </p:txBody>
      </p:sp>
      <p:sp>
        <p:nvSpPr>
          <p:cNvPr id="40" name="Shape 38"/>
          <p:cNvSpPr/>
          <p:nvPr/>
        </p:nvSpPr>
        <p:spPr>
          <a:xfrm>
            <a:off x="731520" y="5330952"/>
            <a:ext cx="10728655" cy="548640"/>
          </a:xfrm>
          <a:prstGeom prst="roundRect">
            <a:avLst>
              <a:gd name="adj" fmla="val 10000"/>
            </a:avLst>
          </a:prstGeom>
          <a:solidFill>
            <a:srgbClr val="FFFFFF"/>
          </a:solidFill>
          <a:ln w="9525">
            <a:solidFill>
              <a:srgbClr val="D8DED9"/>
            </a:solidFill>
            <a:prstDash val="solid"/>
          </a:ln>
        </p:spPr>
        <p:txBody>
          <a:bodyPr/>
          <a:lstStyle/>
          <a:p>
            <a:endParaRPr lang="en-US"/>
          </a:p>
        </p:txBody>
      </p:sp>
      <p:sp>
        <p:nvSpPr>
          <p:cNvPr id="41" name="Shape 39"/>
          <p:cNvSpPr/>
          <p:nvPr/>
        </p:nvSpPr>
        <p:spPr>
          <a:xfrm>
            <a:off x="841248" y="5404104"/>
            <a:ext cx="1234440" cy="402336"/>
          </a:xfrm>
          <a:prstGeom prst="roundRect">
            <a:avLst>
              <a:gd name="adj" fmla="val 18182"/>
            </a:avLst>
          </a:prstGeom>
          <a:solidFill>
            <a:srgbClr val="14322D"/>
          </a:solidFill>
          <a:ln/>
        </p:spPr>
        <p:txBody>
          <a:bodyPr/>
          <a:lstStyle/>
          <a:p>
            <a:endParaRPr lang="en-US"/>
          </a:p>
        </p:txBody>
      </p:sp>
      <p:sp>
        <p:nvSpPr>
          <p:cNvPr id="42" name="Text 40"/>
          <p:cNvSpPr/>
          <p:nvPr/>
        </p:nvSpPr>
        <p:spPr>
          <a:xfrm>
            <a:off x="914400" y="5404104"/>
            <a:ext cx="1088136" cy="402336"/>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0:28–0:30</a:t>
            </a:r>
            <a:endParaRPr lang="en-US" sz="1200" dirty="0"/>
          </a:p>
        </p:txBody>
      </p:sp>
      <p:sp>
        <p:nvSpPr>
          <p:cNvPr id="43" name="Text 41"/>
          <p:cNvSpPr/>
          <p:nvPr/>
        </p:nvSpPr>
        <p:spPr>
          <a:xfrm>
            <a:off x="2240280" y="5330952"/>
            <a:ext cx="6035040" cy="548640"/>
          </a:xfrm>
          <a:prstGeom prst="rect">
            <a:avLst/>
          </a:prstGeom>
          <a:noFill/>
          <a:ln/>
        </p:spPr>
        <p:txBody>
          <a:bodyPr wrap="square" rtlCol="0" anchor="ctr"/>
          <a:lstStyle/>
          <a:p>
            <a:pPr marL="0" indent="0">
              <a:buNone/>
            </a:pPr>
            <a:r>
              <a:rPr lang="en-US" sz="1400" dirty="0">
                <a:solidFill>
                  <a:srgbClr val="1B2624"/>
                </a:solidFill>
                <a:latin typeface="Calibri" pitchFamily="34" charset="0"/>
                <a:ea typeface="Calibri" pitchFamily="34" charset="-122"/>
                <a:cs typeface="Calibri" pitchFamily="34" charset="-120"/>
              </a:rPr>
              <a:t>Decision guide and takeaway</a:t>
            </a:r>
            <a:endParaRPr lang="en-US" sz="1400" dirty="0"/>
          </a:p>
        </p:txBody>
      </p:sp>
      <p:sp>
        <p:nvSpPr>
          <p:cNvPr id="44" name="Shape 42"/>
          <p:cNvSpPr/>
          <p:nvPr/>
        </p:nvSpPr>
        <p:spPr>
          <a:xfrm>
            <a:off x="8168335" y="5404104"/>
            <a:ext cx="3200400" cy="402336"/>
          </a:xfrm>
          <a:prstGeom prst="roundRect">
            <a:avLst>
              <a:gd name="adj" fmla="val 18182"/>
            </a:avLst>
          </a:prstGeom>
          <a:solidFill>
            <a:srgbClr val="E1EAE6"/>
          </a:solidFill>
          <a:ln/>
        </p:spPr>
        <p:txBody>
          <a:bodyPr/>
          <a:lstStyle/>
          <a:p>
            <a:endParaRPr lang="en-US"/>
          </a:p>
        </p:txBody>
      </p:sp>
      <p:sp>
        <p:nvSpPr>
          <p:cNvPr id="45" name="Text 43"/>
          <p:cNvSpPr/>
          <p:nvPr/>
        </p:nvSpPr>
        <p:spPr>
          <a:xfrm>
            <a:off x="8241487" y="5404104"/>
            <a:ext cx="3054096" cy="402336"/>
          </a:xfrm>
          <a:prstGeom prst="rect">
            <a:avLst/>
          </a:prstGeom>
          <a:noFill/>
          <a:ln/>
        </p:spPr>
        <p:txBody>
          <a:bodyPr wrap="square" rtlCol="0" anchor="ctr"/>
          <a:lstStyle/>
          <a:p>
            <a:pPr marL="0" indent="0" algn="ctr">
              <a:buNone/>
            </a:pPr>
            <a:r>
              <a:rPr lang="en-US" sz="1100" b="1" dirty="0">
                <a:solidFill>
                  <a:srgbClr val="1F4741"/>
                </a:solidFill>
                <a:latin typeface="Calibri" pitchFamily="34" charset="0"/>
                <a:ea typeface="Calibri" pitchFamily="34" charset="-122"/>
                <a:cs typeface="Calibri" pitchFamily="34" charset="-120"/>
              </a:rPr>
              <a:t>Slide 4</a:t>
            </a:r>
            <a:endParaRPr lang="en-US" sz="1100" dirty="0"/>
          </a:p>
        </p:txBody>
      </p:sp>
      <p:sp>
        <p:nvSpPr>
          <p:cNvPr id="46" name="Text 44"/>
          <p:cNvSpPr/>
          <p:nvPr/>
        </p:nvSpPr>
        <p:spPr>
          <a:xfrm>
            <a:off x="731520" y="6044184"/>
            <a:ext cx="10728655" cy="365760"/>
          </a:xfrm>
          <a:prstGeom prst="rect">
            <a:avLst/>
          </a:prstGeom>
          <a:noFill/>
          <a:ln/>
        </p:spPr>
        <p:txBody>
          <a:bodyPr wrap="square" rtlCol="0" anchor="ctr"/>
          <a:lstStyle/>
          <a:p>
            <a:pPr marL="0" indent="0">
              <a:buNone/>
            </a:pPr>
            <a:r>
              <a:rPr lang="en-US" sz="1100" i="1" dirty="0">
                <a:solidFill>
                  <a:srgbClr val="4E5A57"/>
                </a:solidFill>
                <a:latin typeface="Calibri" pitchFamily="34" charset="0"/>
                <a:ea typeface="Calibri" pitchFamily="34" charset="-122"/>
                <a:cs typeface="Calibri" pitchFamily="34" charset="-120"/>
              </a:rPr>
              <a:t>The schedule includes a small amount of buffer. If live generation runs slowly, move directly from the prebuilt Artifact to Slide 3.</a:t>
            </a:r>
            <a:endParaRPr lang="en-US" sz="1100" dirty="0"/>
          </a:p>
        </p:txBody>
      </p:sp>
      <p:sp>
        <p:nvSpPr>
          <p:cNvPr id="47" name="Text 45"/>
          <p:cNvSpPr/>
          <p:nvPr/>
        </p:nvSpPr>
        <p:spPr>
          <a:xfrm>
            <a:off x="731520" y="6355080"/>
            <a:ext cx="7315200" cy="320040"/>
          </a:xfrm>
          <a:prstGeom prst="rect">
            <a:avLst/>
          </a:prstGeom>
          <a:noFill/>
          <a:ln/>
        </p:spPr>
        <p:txBody>
          <a:bodyPr wrap="square" rtlCol="0" anchor="ctr"/>
          <a:lstStyle/>
          <a:p>
            <a:pPr marL="0" indent="0" algn="l">
              <a:buNone/>
            </a:pPr>
            <a:r>
              <a:rPr lang="en-US" sz="1000" dirty="0">
                <a:solidFill>
                  <a:srgbClr val="4E5A57"/>
                </a:solidFill>
                <a:latin typeface="Calibri" pitchFamily="34" charset="0"/>
                <a:ea typeface="Calibri" pitchFamily="34" charset="-122"/>
                <a:cs typeface="Calibri" pitchFamily="34" charset="-120"/>
              </a:rPr>
              <a:t>Beyond the Chat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411480"/>
            <a:ext cx="10728655" cy="777240"/>
          </a:xfrm>
          <a:prstGeom prst="rect">
            <a:avLst/>
          </a:prstGeom>
          <a:noFill/>
          <a:ln/>
        </p:spPr>
        <p:txBody>
          <a:bodyPr wrap="square" rtlCol="0" anchor="ctr"/>
          <a:lstStyle/>
          <a:p>
            <a:pPr marL="0" indent="0" algn="l">
              <a:buNone/>
            </a:pPr>
            <a:r>
              <a:rPr lang="en-US" sz="3200" b="1" dirty="0">
                <a:solidFill>
                  <a:srgbClr val="14322D"/>
                </a:solidFill>
                <a:latin typeface="Cambria" pitchFamily="34" charset="0"/>
                <a:ea typeface="Cambria" pitchFamily="34" charset="-122"/>
                <a:cs typeface="Cambria" pitchFamily="34" charset="-120"/>
              </a:rPr>
              <a:t>Beyond the Chat</a:t>
            </a:r>
            <a:endParaRPr lang="en-US" sz="3200" dirty="0"/>
          </a:p>
        </p:txBody>
      </p:sp>
      <p:sp>
        <p:nvSpPr>
          <p:cNvPr id="3" name="Shape 1"/>
          <p:cNvSpPr/>
          <p:nvPr/>
        </p:nvSpPr>
        <p:spPr>
          <a:xfrm>
            <a:off x="731520" y="1325880"/>
            <a:ext cx="10728655" cy="822960"/>
          </a:xfrm>
          <a:prstGeom prst="roundRect">
            <a:avLst>
              <a:gd name="adj" fmla="val 8889"/>
            </a:avLst>
          </a:prstGeom>
          <a:solidFill>
            <a:srgbClr val="E1EAE6"/>
          </a:solidFill>
          <a:ln/>
        </p:spPr>
        <p:txBody>
          <a:bodyPr/>
          <a:lstStyle/>
          <a:p>
            <a:endParaRPr lang="en-US"/>
          </a:p>
        </p:txBody>
      </p:sp>
      <p:sp>
        <p:nvSpPr>
          <p:cNvPr id="4" name="Text 2"/>
          <p:cNvSpPr/>
          <p:nvPr/>
        </p:nvSpPr>
        <p:spPr>
          <a:xfrm>
            <a:off x="1005840" y="1325880"/>
            <a:ext cx="10180015" cy="822960"/>
          </a:xfrm>
          <a:prstGeom prst="rect">
            <a:avLst/>
          </a:prstGeom>
          <a:noFill/>
          <a:ln/>
        </p:spPr>
        <p:txBody>
          <a:bodyPr wrap="square" rtlCol="0" anchor="ctr"/>
          <a:lstStyle/>
          <a:p>
            <a:pPr marL="0" indent="0" algn="ctr">
              <a:buNone/>
            </a:pPr>
            <a:r>
              <a:rPr lang="en-US" sz="1500" i="1" dirty="0">
                <a:solidFill>
                  <a:srgbClr val="14322D"/>
                </a:solidFill>
                <a:latin typeface="Calibri" pitchFamily="34" charset="0"/>
                <a:ea typeface="Calibri" pitchFamily="34" charset="-122"/>
                <a:cs typeface="Calibri" pitchFamily="34" charset="-120"/>
              </a:rPr>
              <a:t>A normal chat is useful for a question. A Project is useful for a body of work. An Artifact is useful when the output should become something people can use.</a:t>
            </a:r>
            <a:endParaRPr lang="en-US" sz="1500" dirty="0"/>
          </a:p>
        </p:txBody>
      </p:sp>
      <p:sp>
        <p:nvSpPr>
          <p:cNvPr id="5" name="Shape 3"/>
          <p:cNvSpPr/>
          <p:nvPr/>
        </p:nvSpPr>
        <p:spPr>
          <a:xfrm>
            <a:off x="749808" y="2423160"/>
            <a:ext cx="3291840" cy="3246120"/>
          </a:xfrm>
          <a:prstGeom prst="roundRect">
            <a:avLst>
              <a:gd name="adj" fmla="val 2817"/>
            </a:avLst>
          </a:prstGeom>
          <a:solidFill>
            <a:srgbClr val="FFFFFF"/>
          </a:solidFill>
          <a:ln w="12700">
            <a:solidFill>
              <a:srgbClr val="D8DED9"/>
            </a:solidFill>
            <a:prstDash val="solid"/>
          </a:ln>
          <a:effectLst>
            <a:outerShdw blurRad="76200" dist="38100" dir="5400000" algn="bl" rotWithShape="0">
              <a:srgbClr val="1B2624">
                <a:alpha val="18000"/>
              </a:srgbClr>
            </a:outerShdw>
          </a:effectLst>
        </p:spPr>
        <p:txBody>
          <a:bodyPr/>
          <a:lstStyle/>
          <a:p>
            <a:endParaRPr lang="en-US"/>
          </a:p>
        </p:txBody>
      </p:sp>
      <p:sp>
        <p:nvSpPr>
          <p:cNvPr id="6" name="Shape 4"/>
          <p:cNvSpPr/>
          <p:nvPr/>
        </p:nvSpPr>
        <p:spPr>
          <a:xfrm>
            <a:off x="1024128" y="2697480"/>
            <a:ext cx="621792" cy="621792"/>
          </a:xfrm>
          <a:prstGeom prst="ellipse">
            <a:avLst/>
          </a:prstGeom>
          <a:solidFill>
            <a:srgbClr val="1F4741"/>
          </a:solidFill>
          <a:ln/>
        </p:spPr>
        <p:txBody>
          <a:bodyPr/>
          <a:lstStyle/>
          <a:p>
            <a:endParaRPr lang="en-US"/>
          </a:p>
        </p:txBody>
      </p:sp>
      <p:pic>
        <p:nvPicPr>
          <p:cNvPr id="7" name="Image 0" descr="/home/claude/deck/assets/icons/chat-white.png"/>
          <p:cNvPicPr>
            <a:picLocks noChangeAspect="1"/>
          </p:cNvPicPr>
          <p:nvPr/>
        </p:nvPicPr>
        <p:blipFill>
          <a:blip r:embed="rId3"/>
          <a:stretch>
            <a:fillRect/>
          </a:stretch>
        </p:blipFill>
        <p:spPr>
          <a:xfrm>
            <a:off x="1173358" y="2846710"/>
            <a:ext cx="323332" cy="323332"/>
          </a:xfrm>
          <a:prstGeom prst="rect">
            <a:avLst/>
          </a:prstGeom>
        </p:spPr>
      </p:pic>
      <p:sp>
        <p:nvSpPr>
          <p:cNvPr id="8" name="Text 5"/>
          <p:cNvSpPr/>
          <p:nvPr/>
        </p:nvSpPr>
        <p:spPr>
          <a:xfrm>
            <a:off x="1024128" y="3429000"/>
            <a:ext cx="2743200" cy="411480"/>
          </a:xfrm>
          <a:prstGeom prst="rect">
            <a:avLst/>
          </a:prstGeom>
          <a:noFill/>
          <a:ln/>
        </p:spPr>
        <p:txBody>
          <a:bodyPr wrap="square" rtlCol="0" anchor="ctr"/>
          <a:lstStyle/>
          <a:p>
            <a:pPr marL="0" indent="0">
              <a:buNone/>
            </a:pPr>
            <a:r>
              <a:rPr lang="en-US" sz="1800" b="1" kern="0" spc="100" dirty="0">
                <a:solidFill>
                  <a:srgbClr val="14322D"/>
                </a:solidFill>
                <a:latin typeface="Cambria" pitchFamily="34" charset="0"/>
                <a:ea typeface="Cambria" pitchFamily="34" charset="-122"/>
                <a:cs typeface="Cambria" pitchFamily="34" charset="-120"/>
              </a:rPr>
              <a:t>CHAT</a:t>
            </a:r>
            <a:endParaRPr lang="en-US" sz="1800" dirty="0"/>
          </a:p>
        </p:txBody>
      </p:sp>
      <p:sp>
        <p:nvSpPr>
          <p:cNvPr id="9" name="Text 6"/>
          <p:cNvSpPr/>
          <p:nvPr/>
        </p:nvSpPr>
        <p:spPr>
          <a:xfrm>
            <a:off x="1024128" y="3931920"/>
            <a:ext cx="2743200" cy="1554480"/>
          </a:xfrm>
          <a:prstGeom prst="rect">
            <a:avLst/>
          </a:prstGeom>
          <a:noFill/>
          <a:ln/>
        </p:spPr>
        <p:txBody>
          <a:bodyPr wrap="square" rtlCol="0" anchor="t"/>
          <a:lstStyle/>
          <a:p>
            <a:pPr marL="177800" indent="-177800">
              <a:spcAft>
                <a:spcPts val="800"/>
              </a:spcAft>
              <a:buSzPct val="100000"/>
              <a:buChar char="●"/>
            </a:pPr>
            <a:r>
              <a:rPr lang="en-US" sz="1300" dirty="0">
                <a:solidFill>
                  <a:srgbClr val="1B2624"/>
                </a:solidFill>
                <a:latin typeface="Calibri" pitchFamily="34" charset="0"/>
                <a:ea typeface="Calibri" pitchFamily="34" charset="-122"/>
                <a:cs typeface="Calibri" pitchFamily="34" charset="-120"/>
              </a:rPr>
              <a:t>One conversation</a:t>
            </a:r>
            <a:endParaRPr lang="en-US" sz="1300" dirty="0"/>
          </a:p>
          <a:p>
            <a:pPr marL="177800" indent="-177800">
              <a:spcAft>
                <a:spcPts val="800"/>
              </a:spcAft>
              <a:buSzPct val="100000"/>
              <a:buChar char="●"/>
            </a:pPr>
            <a:r>
              <a:rPr lang="en-US" sz="1300" dirty="0">
                <a:solidFill>
                  <a:srgbClr val="1B2624"/>
                </a:solidFill>
                <a:latin typeface="Calibri" pitchFamily="34" charset="0"/>
                <a:ea typeface="Calibri" pitchFamily="34" charset="-122"/>
                <a:cs typeface="Calibri" pitchFamily="34" charset="-120"/>
              </a:rPr>
              <a:t>One immediate task</a:t>
            </a:r>
            <a:endParaRPr lang="en-US" sz="1300" dirty="0"/>
          </a:p>
        </p:txBody>
      </p:sp>
      <p:pic>
        <p:nvPicPr>
          <p:cNvPr id="10" name="Image 1" descr="/home/claude/deck/assets/icons/arrowright-pine.png"/>
          <p:cNvPicPr>
            <a:picLocks noChangeAspect="1"/>
          </p:cNvPicPr>
          <p:nvPr/>
        </p:nvPicPr>
        <p:blipFill>
          <a:blip r:embed="rId4"/>
          <a:stretch>
            <a:fillRect/>
          </a:stretch>
        </p:blipFill>
        <p:spPr>
          <a:xfrm>
            <a:off x="4069080" y="3890772"/>
            <a:ext cx="310896" cy="310896"/>
          </a:xfrm>
          <a:prstGeom prst="rect">
            <a:avLst/>
          </a:prstGeom>
        </p:spPr>
      </p:pic>
      <p:sp>
        <p:nvSpPr>
          <p:cNvPr id="11" name="Shape 7"/>
          <p:cNvSpPr/>
          <p:nvPr/>
        </p:nvSpPr>
        <p:spPr>
          <a:xfrm>
            <a:off x="4453128" y="2423160"/>
            <a:ext cx="3291840" cy="3246120"/>
          </a:xfrm>
          <a:prstGeom prst="roundRect">
            <a:avLst>
              <a:gd name="adj" fmla="val 2817"/>
            </a:avLst>
          </a:prstGeom>
          <a:solidFill>
            <a:srgbClr val="FFFFFF"/>
          </a:solidFill>
          <a:ln w="12700">
            <a:solidFill>
              <a:srgbClr val="D8DED9"/>
            </a:solidFill>
            <a:prstDash val="solid"/>
          </a:ln>
          <a:effectLst>
            <a:outerShdw blurRad="76200" dist="38100" dir="5400000" algn="bl" rotWithShape="0">
              <a:srgbClr val="1B2624">
                <a:alpha val="18000"/>
              </a:srgbClr>
            </a:outerShdw>
          </a:effectLst>
        </p:spPr>
        <p:txBody>
          <a:bodyPr/>
          <a:lstStyle/>
          <a:p>
            <a:endParaRPr lang="en-US"/>
          </a:p>
        </p:txBody>
      </p:sp>
      <p:sp>
        <p:nvSpPr>
          <p:cNvPr id="12" name="Shape 8"/>
          <p:cNvSpPr/>
          <p:nvPr/>
        </p:nvSpPr>
        <p:spPr>
          <a:xfrm>
            <a:off x="4727448" y="2697480"/>
            <a:ext cx="621792" cy="621792"/>
          </a:xfrm>
          <a:prstGeom prst="ellipse">
            <a:avLst/>
          </a:prstGeom>
          <a:solidFill>
            <a:srgbClr val="1F4741"/>
          </a:solidFill>
          <a:ln/>
        </p:spPr>
        <p:txBody>
          <a:bodyPr/>
          <a:lstStyle/>
          <a:p>
            <a:endParaRPr lang="en-US"/>
          </a:p>
        </p:txBody>
      </p:sp>
      <p:pic>
        <p:nvPicPr>
          <p:cNvPr id="13" name="Image 2" descr="/home/claude/deck/assets/icons/folder-white.png"/>
          <p:cNvPicPr>
            <a:picLocks noChangeAspect="1"/>
          </p:cNvPicPr>
          <p:nvPr/>
        </p:nvPicPr>
        <p:blipFill>
          <a:blip r:embed="rId5"/>
          <a:stretch>
            <a:fillRect/>
          </a:stretch>
        </p:blipFill>
        <p:spPr>
          <a:xfrm>
            <a:off x="4876678" y="2846710"/>
            <a:ext cx="323332" cy="323332"/>
          </a:xfrm>
          <a:prstGeom prst="rect">
            <a:avLst/>
          </a:prstGeom>
        </p:spPr>
      </p:pic>
      <p:sp>
        <p:nvSpPr>
          <p:cNvPr id="14" name="Text 9"/>
          <p:cNvSpPr/>
          <p:nvPr/>
        </p:nvSpPr>
        <p:spPr>
          <a:xfrm>
            <a:off x="4727448" y="3429000"/>
            <a:ext cx="2743200" cy="411480"/>
          </a:xfrm>
          <a:prstGeom prst="rect">
            <a:avLst/>
          </a:prstGeom>
          <a:noFill/>
          <a:ln/>
        </p:spPr>
        <p:txBody>
          <a:bodyPr wrap="square" rtlCol="0" anchor="ctr"/>
          <a:lstStyle/>
          <a:p>
            <a:pPr marL="0" indent="0">
              <a:buNone/>
            </a:pPr>
            <a:r>
              <a:rPr lang="en-US" sz="1800" b="1" kern="0" spc="100" dirty="0">
                <a:solidFill>
                  <a:srgbClr val="14322D"/>
                </a:solidFill>
                <a:latin typeface="Cambria" pitchFamily="34" charset="0"/>
                <a:ea typeface="Cambria" pitchFamily="34" charset="-122"/>
                <a:cs typeface="Cambria" pitchFamily="34" charset="-120"/>
              </a:rPr>
              <a:t>PROJECT</a:t>
            </a:r>
            <a:endParaRPr lang="en-US" sz="1800" dirty="0"/>
          </a:p>
        </p:txBody>
      </p:sp>
      <p:sp>
        <p:nvSpPr>
          <p:cNvPr id="15" name="Text 10"/>
          <p:cNvSpPr/>
          <p:nvPr/>
        </p:nvSpPr>
        <p:spPr>
          <a:xfrm>
            <a:off x="4727448" y="3931920"/>
            <a:ext cx="2743200" cy="1554480"/>
          </a:xfrm>
          <a:prstGeom prst="rect">
            <a:avLst/>
          </a:prstGeom>
          <a:noFill/>
          <a:ln/>
        </p:spPr>
        <p:txBody>
          <a:bodyPr wrap="square" rtlCol="0" anchor="t"/>
          <a:lstStyle/>
          <a:p>
            <a:pPr marL="177800" indent="-177800">
              <a:spcAft>
                <a:spcPts val="800"/>
              </a:spcAft>
              <a:buSzPct val="100000"/>
              <a:buChar char="●"/>
            </a:pPr>
            <a:r>
              <a:rPr lang="en-US" sz="1300" dirty="0">
                <a:solidFill>
                  <a:srgbClr val="1B2624"/>
                </a:solidFill>
                <a:latin typeface="Calibri" pitchFamily="34" charset="0"/>
                <a:ea typeface="Calibri" pitchFamily="34" charset="-122"/>
                <a:cs typeface="Calibri" pitchFamily="34" charset="-120"/>
              </a:rPr>
              <a:t>Shared instructions</a:t>
            </a:r>
            <a:endParaRPr lang="en-US" sz="1300" dirty="0"/>
          </a:p>
          <a:p>
            <a:pPr marL="177800" indent="-177800">
              <a:spcAft>
                <a:spcPts val="800"/>
              </a:spcAft>
              <a:buSzPct val="100000"/>
              <a:buChar char="●"/>
            </a:pPr>
            <a:r>
              <a:rPr lang="en-US" sz="1300" dirty="0">
                <a:solidFill>
                  <a:srgbClr val="1B2624"/>
                </a:solidFill>
                <a:latin typeface="Calibri" pitchFamily="34" charset="0"/>
                <a:ea typeface="Calibri" pitchFamily="34" charset="-122"/>
                <a:cs typeface="Calibri" pitchFamily="34" charset="-120"/>
              </a:rPr>
              <a:t>Shared knowledge</a:t>
            </a:r>
            <a:endParaRPr lang="en-US" sz="1300" dirty="0"/>
          </a:p>
          <a:p>
            <a:pPr marL="177800" indent="-177800">
              <a:spcAft>
                <a:spcPts val="800"/>
              </a:spcAft>
              <a:buSzPct val="100000"/>
              <a:buChar char="●"/>
            </a:pPr>
            <a:r>
              <a:rPr lang="en-US" sz="1300" dirty="0">
                <a:solidFill>
                  <a:srgbClr val="1B2624"/>
                </a:solidFill>
                <a:latin typeface="Calibri" pitchFamily="34" charset="0"/>
                <a:ea typeface="Calibri" pitchFamily="34" charset="-122"/>
                <a:cs typeface="Calibri" pitchFamily="34" charset="-120"/>
              </a:rPr>
              <a:t>Multiple conversations</a:t>
            </a:r>
            <a:endParaRPr lang="en-US" sz="1300" dirty="0"/>
          </a:p>
        </p:txBody>
      </p:sp>
      <p:pic>
        <p:nvPicPr>
          <p:cNvPr id="16" name="Image 3" descr="/home/claude/deck/assets/icons/arrowright-pine.png"/>
          <p:cNvPicPr>
            <a:picLocks noChangeAspect="1"/>
          </p:cNvPicPr>
          <p:nvPr/>
        </p:nvPicPr>
        <p:blipFill>
          <a:blip r:embed="rId4"/>
          <a:stretch>
            <a:fillRect/>
          </a:stretch>
        </p:blipFill>
        <p:spPr>
          <a:xfrm>
            <a:off x="7772400" y="3890772"/>
            <a:ext cx="310896" cy="310896"/>
          </a:xfrm>
          <a:prstGeom prst="rect">
            <a:avLst/>
          </a:prstGeom>
        </p:spPr>
      </p:pic>
      <p:sp>
        <p:nvSpPr>
          <p:cNvPr id="17" name="Shape 11"/>
          <p:cNvSpPr/>
          <p:nvPr/>
        </p:nvSpPr>
        <p:spPr>
          <a:xfrm>
            <a:off x="8156448" y="2423160"/>
            <a:ext cx="3291840" cy="3246120"/>
          </a:xfrm>
          <a:prstGeom prst="roundRect">
            <a:avLst>
              <a:gd name="adj" fmla="val 2817"/>
            </a:avLst>
          </a:prstGeom>
          <a:solidFill>
            <a:srgbClr val="FFFFFF"/>
          </a:solidFill>
          <a:ln w="12700">
            <a:solidFill>
              <a:srgbClr val="D8DED9"/>
            </a:solidFill>
            <a:prstDash val="solid"/>
          </a:ln>
          <a:effectLst>
            <a:outerShdw blurRad="76200" dist="38100" dir="5400000" algn="bl" rotWithShape="0">
              <a:srgbClr val="1B2624">
                <a:alpha val="18000"/>
              </a:srgbClr>
            </a:outerShdw>
          </a:effectLst>
        </p:spPr>
        <p:txBody>
          <a:bodyPr/>
          <a:lstStyle/>
          <a:p>
            <a:endParaRPr lang="en-US"/>
          </a:p>
        </p:txBody>
      </p:sp>
      <p:sp>
        <p:nvSpPr>
          <p:cNvPr id="18" name="Shape 12"/>
          <p:cNvSpPr/>
          <p:nvPr/>
        </p:nvSpPr>
        <p:spPr>
          <a:xfrm>
            <a:off x="8430768" y="2697480"/>
            <a:ext cx="621792" cy="621792"/>
          </a:xfrm>
          <a:prstGeom prst="ellipse">
            <a:avLst/>
          </a:prstGeom>
          <a:solidFill>
            <a:srgbClr val="1F4741"/>
          </a:solidFill>
          <a:ln/>
        </p:spPr>
        <p:txBody>
          <a:bodyPr/>
          <a:lstStyle/>
          <a:p>
            <a:endParaRPr lang="en-US"/>
          </a:p>
        </p:txBody>
      </p:sp>
      <p:pic>
        <p:nvPicPr>
          <p:cNvPr id="19" name="Image 4" descr="/home/claude/deck/assets/icons/layers-white.png"/>
          <p:cNvPicPr>
            <a:picLocks noChangeAspect="1"/>
          </p:cNvPicPr>
          <p:nvPr/>
        </p:nvPicPr>
        <p:blipFill>
          <a:blip r:embed="rId6"/>
          <a:stretch>
            <a:fillRect/>
          </a:stretch>
        </p:blipFill>
        <p:spPr>
          <a:xfrm>
            <a:off x="8579998" y="2846710"/>
            <a:ext cx="323332" cy="323332"/>
          </a:xfrm>
          <a:prstGeom prst="rect">
            <a:avLst/>
          </a:prstGeom>
        </p:spPr>
      </p:pic>
      <p:sp>
        <p:nvSpPr>
          <p:cNvPr id="20" name="Text 13"/>
          <p:cNvSpPr/>
          <p:nvPr/>
        </p:nvSpPr>
        <p:spPr>
          <a:xfrm>
            <a:off x="8430768" y="3429000"/>
            <a:ext cx="2743200" cy="411480"/>
          </a:xfrm>
          <a:prstGeom prst="rect">
            <a:avLst/>
          </a:prstGeom>
          <a:noFill/>
          <a:ln/>
        </p:spPr>
        <p:txBody>
          <a:bodyPr wrap="square" rtlCol="0" anchor="ctr"/>
          <a:lstStyle/>
          <a:p>
            <a:pPr marL="0" indent="0">
              <a:buNone/>
            </a:pPr>
            <a:r>
              <a:rPr lang="en-US" sz="1800" b="1" kern="0" spc="100" dirty="0">
                <a:solidFill>
                  <a:srgbClr val="14322D"/>
                </a:solidFill>
                <a:latin typeface="Cambria" pitchFamily="34" charset="0"/>
                <a:ea typeface="Cambria" pitchFamily="34" charset="-122"/>
                <a:cs typeface="Cambria" pitchFamily="34" charset="-120"/>
              </a:rPr>
              <a:t>ARTIFACT</a:t>
            </a:r>
            <a:endParaRPr lang="en-US" sz="1800" dirty="0"/>
          </a:p>
        </p:txBody>
      </p:sp>
      <p:sp>
        <p:nvSpPr>
          <p:cNvPr id="21" name="Text 14"/>
          <p:cNvSpPr/>
          <p:nvPr/>
        </p:nvSpPr>
        <p:spPr>
          <a:xfrm>
            <a:off x="8430768" y="3931920"/>
            <a:ext cx="2743200" cy="1554480"/>
          </a:xfrm>
          <a:prstGeom prst="rect">
            <a:avLst/>
          </a:prstGeom>
          <a:noFill/>
          <a:ln/>
        </p:spPr>
        <p:txBody>
          <a:bodyPr wrap="square" rtlCol="0" anchor="t"/>
          <a:lstStyle/>
          <a:p>
            <a:pPr marL="177800" indent="-177800">
              <a:spcAft>
                <a:spcPts val="800"/>
              </a:spcAft>
              <a:buSzPct val="100000"/>
              <a:buChar char="●"/>
            </a:pPr>
            <a:r>
              <a:rPr lang="en-US" sz="1300" dirty="0">
                <a:solidFill>
                  <a:srgbClr val="1B2624"/>
                </a:solidFill>
                <a:latin typeface="Calibri" pitchFamily="34" charset="0"/>
                <a:ea typeface="Calibri" pitchFamily="34" charset="-122"/>
                <a:cs typeface="Calibri" pitchFamily="34" charset="-120"/>
              </a:rPr>
              <a:t>Document</a:t>
            </a:r>
            <a:endParaRPr lang="en-US" sz="1300" dirty="0"/>
          </a:p>
          <a:p>
            <a:pPr marL="177800" indent="-177800">
              <a:spcAft>
                <a:spcPts val="800"/>
              </a:spcAft>
              <a:buSzPct val="100000"/>
              <a:buChar char="●"/>
            </a:pPr>
            <a:r>
              <a:rPr lang="en-US" sz="1300" dirty="0">
                <a:solidFill>
                  <a:srgbClr val="1B2624"/>
                </a:solidFill>
                <a:latin typeface="Calibri" pitchFamily="34" charset="0"/>
                <a:ea typeface="Calibri" pitchFamily="34" charset="-122"/>
                <a:cs typeface="Calibri" pitchFamily="34" charset="-120"/>
              </a:rPr>
              <a:t>Visualization</a:t>
            </a:r>
            <a:endParaRPr lang="en-US" sz="1300" dirty="0"/>
          </a:p>
          <a:p>
            <a:pPr marL="177800" indent="-177800">
              <a:spcAft>
                <a:spcPts val="800"/>
              </a:spcAft>
              <a:buSzPct val="100000"/>
              <a:buChar char="●"/>
            </a:pPr>
            <a:r>
              <a:rPr lang="en-US" sz="1300" dirty="0">
                <a:solidFill>
                  <a:srgbClr val="1B2624"/>
                </a:solidFill>
                <a:latin typeface="Calibri" pitchFamily="34" charset="0"/>
                <a:ea typeface="Calibri" pitchFamily="34" charset="-122"/>
                <a:cs typeface="Calibri" pitchFamily="34" charset="-120"/>
              </a:rPr>
              <a:t>Prototype</a:t>
            </a:r>
            <a:endParaRPr lang="en-US" sz="1300" dirty="0"/>
          </a:p>
          <a:p>
            <a:pPr marL="177800" indent="-177800">
              <a:spcAft>
                <a:spcPts val="800"/>
              </a:spcAft>
              <a:buSzPct val="100000"/>
              <a:buChar char="●"/>
            </a:pPr>
            <a:r>
              <a:rPr lang="en-US" sz="1300" dirty="0">
                <a:solidFill>
                  <a:srgbClr val="1B2624"/>
                </a:solidFill>
                <a:latin typeface="Calibri" pitchFamily="34" charset="0"/>
                <a:ea typeface="Calibri" pitchFamily="34" charset="-122"/>
                <a:cs typeface="Calibri" pitchFamily="34" charset="-120"/>
              </a:rPr>
              <a:t>Interactive application</a:t>
            </a:r>
            <a:endParaRPr lang="en-US" sz="1300" dirty="0"/>
          </a:p>
        </p:txBody>
      </p:sp>
      <p:sp>
        <p:nvSpPr>
          <p:cNvPr id="22" name="Text 15"/>
          <p:cNvSpPr/>
          <p:nvPr/>
        </p:nvSpPr>
        <p:spPr>
          <a:xfrm>
            <a:off x="731520" y="6355080"/>
            <a:ext cx="7315200" cy="320040"/>
          </a:xfrm>
          <a:prstGeom prst="rect">
            <a:avLst/>
          </a:prstGeom>
          <a:noFill/>
          <a:ln/>
        </p:spPr>
        <p:txBody>
          <a:bodyPr wrap="square" rtlCol="0" anchor="ctr"/>
          <a:lstStyle/>
          <a:p>
            <a:pPr marL="0" indent="0" algn="l">
              <a:buNone/>
            </a:pPr>
            <a:r>
              <a:rPr lang="en-US" sz="1000" dirty="0">
                <a:solidFill>
                  <a:srgbClr val="4E5A57"/>
                </a:solidFill>
                <a:latin typeface="Calibri" pitchFamily="34" charset="0"/>
                <a:ea typeface="Calibri" pitchFamily="34" charset="-122"/>
                <a:cs typeface="Calibri" pitchFamily="34" charset="-120"/>
              </a:rPr>
              <a:t>Beyond the Chat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411480"/>
            <a:ext cx="10728655" cy="777240"/>
          </a:xfrm>
          <a:prstGeom prst="rect">
            <a:avLst/>
          </a:prstGeom>
          <a:noFill/>
          <a:ln/>
        </p:spPr>
        <p:txBody>
          <a:bodyPr wrap="square" rtlCol="0" anchor="ctr"/>
          <a:lstStyle/>
          <a:p>
            <a:pPr marL="0" indent="0" algn="l">
              <a:buNone/>
            </a:pPr>
            <a:r>
              <a:rPr lang="en-US" sz="3200" b="1" dirty="0">
                <a:solidFill>
                  <a:srgbClr val="14322D"/>
                </a:solidFill>
                <a:latin typeface="Cambria" pitchFamily="34" charset="0"/>
                <a:ea typeface="Cambria" pitchFamily="34" charset="-122"/>
                <a:cs typeface="Cambria" pitchFamily="34" charset="-120"/>
              </a:rPr>
              <a:t>What Persists Where?</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31520" y="1371600"/>
          <a:ext cx="10698480" cy="3520440"/>
        </p:xfrm>
        <a:graphic>
          <a:graphicData uri="http://schemas.openxmlformats.org/drawingml/2006/table">
            <a:tbl>
              <a:tblPr/>
              <a:tblGrid>
                <a:gridCol w="37490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502920">
                <a:tc>
                  <a:txBody>
                    <a:bodyPr/>
                    <a:lstStyle/>
                    <a:p>
                      <a:pPr marL="0" indent="0" algn="l">
                        <a:buNone/>
                      </a:pPr>
                      <a:r>
                        <a:rPr lang="en-US" sz="1300" b="1" dirty="0">
                          <a:solidFill>
                            <a:srgbClr val="FFFFFF"/>
                          </a:solidFill>
                        </a:rPr>
                        <a:t>Capability</a:t>
                      </a:r>
                      <a:endParaRPr lang="en-US" sz="1300" dirty="0"/>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14322D"/>
                    </a:solidFill>
                  </a:tcPr>
                </a:tc>
                <a:tc>
                  <a:txBody>
                    <a:bodyPr/>
                    <a:lstStyle/>
                    <a:p>
                      <a:pPr marL="0" indent="0" algn="ctr">
                        <a:buNone/>
                      </a:pPr>
                      <a:r>
                        <a:rPr lang="en-US" sz="1300" b="1" dirty="0">
                          <a:solidFill>
                            <a:srgbClr val="FFFFFF"/>
                          </a:solidFill>
                        </a:rPr>
                        <a:t>Normal chat</a:t>
                      </a:r>
                      <a:endParaRPr lang="en-US" sz="1300" dirty="0"/>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14322D"/>
                    </a:solidFill>
                  </a:tcPr>
                </a:tc>
                <a:tc>
                  <a:txBody>
                    <a:bodyPr/>
                    <a:lstStyle/>
                    <a:p>
                      <a:pPr marL="0" indent="0" algn="ctr">
                        <a:buNone/>
                      </a:pPr>
                      <a:r>
                        <a:rPr lang="en-US" sz="1300" b="1" dirty="0">
                          <a:solidFill>
                            <a:srgbClr val="FFFFFF"/>
                          </a:solidFill>
                        </a:rPr>
                        <a:t>Claude Project</a:t>
                      </a:r>
                      <a:endParaRPr lang="en-US" sz="1300" dirty="0"/>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14322D"/>
                    </a:solidFill>
                  </a:tcPr>
                </a:tc>
                <a:tc>
                  <a:txBody>
                    <a:bodyPr/>
                    <a:lstStyle/>
                    <a:p>
                      <a:pPr marL="0" indent="0" algn="ctr">
                        <a:buNone/>
                      </a:pPr>
                      <a:r>
                        <a:rPr lang="en-US" sz="1300" b="1" dirty="0">
                          <a:solidFill>
                            <a:srgbClr val="FFFFFF"/>
                          </a:solidFill>
                        </a:rPr>
                        <a:t>Artifact</a:t>
                      </a:r>
                      <a:endParaRPr lang="en-US" sz="1300" dirty="0"/>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14322D"/>
                    </a:solidFill>
                  </a:tcPr>
                </a:tc>
                <a:extLst>
                  <a:ext uri="{0D108BD9-81ED-4DB2-BD59-A6C34878D82A}">
                    <a16:rowId xmlns:a16="http://schemas.microsoft.com/office/drawing/2014/main" val="10000"/>
                  </a:ext>
                </a:extLst>
              </a:tr>
              <a:tr h="502920">
                <a:tc>
                  <a:txBody>
                    <a:bodyPr/>
                    <a:lstStyle/>
                    <a:p>
                      <a:pPr marL="0" indent="0" algn="l">
                        <a:buNone/>
                      </a:pPr>
                      <a:r>
                        <a:rPr lang="en-US" sz="1250" b="1" dirty="0">
                          <a:solidFill>
                            <a:srgbClr val="1B2624"/>
                          </a:solidFill>
                        </a:rPr>
                        <a:t>Immediate conversation context</a:t>
                      </a:r>
                      <a:endParaRPr lang="en-US" sz="1250" dirty="0"/>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F4741"/>
                          </a:solidFill>
                        </a:rPr>
                        <a:t>Yes</a:t>
                      </a:r>
                      <a:endParaRPr lang="en-US" sz="1250" dirty="0"/>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F4741"/>
                          </a:solidFill>
                        </a:rPr>
                        <a:t>Yes</a:t>
                      </a:r>
                      <a:endParaRPr lang="en-US" sz="1250" dirty="0"/>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624"/>
                          </a:solidFill>
                        </a:rPr>
                        <a:t>Uses creation conversation</a:t>
                      </a:r>
                      <a:endParaRPr lang="en-US" sz="1250" dirty="0"/>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250" b="1" dirty="0">
                          <a:solidFill>
                            <a:srgbClr val="1B2624"/>
                          </a:solidFill>
                        </a:rPr>
                        <a:t>Shared instructions</a:t>
                      </a:r>
                      <a:endParaRPr lang="en-US" sz="1250" dirty="0"/>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E1EAE6"/>
                    </a:solidFill>
                  </a:tcPr>
                </a:tc>
                <a:tc>
                  <a:txBody>
                    <a:bodyPr/>
                    <a:lstStyle/>
                    <a:p>
                      <a:pPr marL="0" indent="0" algn="ctr">
                        <a:buNone/>
                      </a:pPr>
                      <a:r>
                        <a:rPr lang="en-US" sz="1250" dirty="0">
                          <a:solidFill>
                            <a:srgbClr val="9AA6A2"/>
                          </a:solidFill>
                        </a:rPr>
                        <a:t>No</a:t>
                      </a:r>
                      <a:endParaRPr lang="en-US" sz="1250" dirty="0"/>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E1EAE6"/>
                    </a:solidFill>
                  </a:tcPr>
                </a:tc>
                <a:tc>
                  <a:txBody>
                    <a:bodyPr/>
                    <a:lstStyle/>
                    <a:p>
                      <a:pPr marL="0" indent="0" algn="ctr">
                        <a:buNone/>
                      </a:pPr>
                      <a:r>
                        <a:rPr lang="en-US" sz="1250" b="1" dirty="0">
                          <a:solidFill>
                            <a:srgbClr val="1F4741"/>
                          </a:solidFill>
                        </a:rPr>
                        <a:t>Yes</a:t>
                      </a:r>
                      <a:endParaRPr lang="en-US" sz="1250" dirty="0"/>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E1EAE6"/>
                    </a:solidFill>
                  </a:tcPr>
                </a:tc>
                <a:tc>
                  <a:txBody>
                    <a:bodyPr/>
                    <a:lstStyle/>
                    <a:p>
                      <a:pPr marL="0" indent="0" algn="ctr">
                        <a:buNone/>
                      </a:pPr>
                      <a:r>
                        <a:rPr lang="en-US" sz="1250" dirty="0">
                          <a:solidFill>
                            <a:srgbClr val="1B2624"/>
                          </a:solidFill>
                        </a:rPr>
                        <a:t>Encoded in the result</a:t>
                      </a:r>
                      <a:endParaRPr lang="en-US" sz="1250" dirty="0"/>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E1EAE6"/>
                    </a:solidFill>
                  </a:tcPr>
                </a:tc>
                <a:extLst>
                  <a:ext uri="{0D108BD9-81ED-4DB2-BD59-A6C34878D82A}">
                    <a16:rowId xmlns:a16="http://schemas.microsoft.com/office/drawing/2014/main" val="10002"/>
                  </a:ext>
                </a:extLst>
              </a:tr>
              <a:tr h="502920">
                <a:tc>
                  <a:txBody>
                    <a:bodyPr/>
                    <a:lstStyle/>
                    <a:p>
                      <a:pPr marL="0" indent="0" algn="l">
                        <a:buNone/>
                      </a:pPr>
                      <a:r>
                        <a:rPr lang="en-US" sz="1250" b="1" dirty="0">
                          <a:solidFill>
                            <a:srgbClr val="1B2624"/>
                          </a:solidFill>
                        </a:rPr>
                        <a:t>Shared reference files</a:t>
                      </a:r>
                      <a:endParaRPr lang="en-US" sz="1250" dirty="0"/>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9AA6A2"/>
                          </a:solidFill>
                        </a:rPr>
                        <a:t>No</a:t>
                      </a:r>
                      <a:endParaRPr lang="en-US" sz="1250" dirty="0"/>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F4741"/>
                          </a:solidFill>
                        </a:rPr>
                        <a:t>Yes</a:t>
                      </a:r>
                      <a:endParaRPr lang="en-US" sz="1250" dirty="0"/>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624"/>
                          </a:solidFill>
                        </a:rPr>
                        <a:t>Can be represented in the result</a:t>
                      </a:r>
                      <a:endParaRPr lang="en-US" sz="1250" dirty="0"/>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250" b="1" dirty="0">
                          <a:solidFill>
                            <a:srgbClr val="1B2624"/>
                          </a:solidFill>
                        </a:rPr>
                        <a:t>Reused across multiple chats</a:t>
                      </a:r>
                      <a:endParaRPr lang="en-US" sz="1250" dirty="0"/>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E1EAE6"/>
                    </a:solidFill>
                  </a:tcPr>
                </a:tc>
                <a:tc>
                  <a:txBody>
                    <a:bodyPr/>
                    <a:lstStyle/>
                    <a:p>
                      <a:pPr marL="0" indent="0" algn="ctr">
                        <a:buNone/>
                      </a:pPr>
                      <a:r>
                        <a:rPr lang="en-US" sz="1250" dirty="0">
                          <a:solidFill>
                            <a:srgbClr val="9AA6A2"/>
                          </a:solidFill>
                        </a:rPr>
                        <a:t>No</a:t>
                      </a:r>
                      <a:endParaRPr lang="en-US" sz="1250" dirty="0"/>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E1EAE6"/>
                    </a:solidFill>
                  </a:tcPr>
                </a:tc>
                <a:tc>
                  <a:txBody>
                    <a:bodyPr/>
                    <a:lstStyle/>
                    <a:p>
                      <a:pPr marL="0" indent="0" algn="ctr">
                        <a:buNone/>
                      </a:pPr>
                      <a:r>
                        <a:rPr lang="en-US" sz="1250" b="1" dirty="0">
                          <a:solidFill>
                            <a:srgbClr val="1F4741"/>
                          </a:solidFill>
                        </a:rPr>
                        <a:t>Yes</a:t>
                      </a:r>
                      <a:endParaRPr lang="en-US" sz="1250" dirty="0"/>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E1EAE6"/>
                    </a:solidFill>
                  </a:tcPr>
                </a:tc>
                <a:tc>
                  <a:txBody>
                    <a:bodyPr/>
                    <a:lstStyle/>
                    <a:p>
                      <a:pPr marL="0" indent="0" algn="ctr">
                        <a:buNone/>
                      </a:pPr>
                      <a:r>
                        <a:rPr lang="en-US" sz="1250" dirty="0">
                          <a:solidFill>
                            <a:srgbClr val="1B2624"/>
                          </a:solidFill>
                        </a:rPr>
                        <a:t>Shared as a standalone output</a:t>
                      </a:r>
                      <a:endParaRPr lang="en-US" sz="1250" dirty="0"/>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E1EAE6"/>
                    </a:solidFill>
                  </a:tcPr>
                </a:tc>
                <a:extLst>
                  <a:ext uri="{0D108BD9-81ED-4DB2-BD59-A6C34878D82A}">
                    <a16:rowId xmlns:a16="http://schemas.microsoft.com/office/drawing/2014/main" val="10004"/>
                  </a:ext>
                </a:extLst>
              </a:tr>
              <a:tr h="502920">
                <a:tc>
                  <a:txBody>
                    <a:bodyPr/>
                    <a:lstStyle/>
                    <a:p>
                      <a:pPr marL="0" indent="0" algn="l">
                        <a:buNone/>
                      </a:pPr>
                      <a:r>
                        <a:rPr lang="en-US" sz="1250" b="1" dirty="0">
                          <a:solidFill>
                            <a:srgbClr val="1B2624"/>
                          </a:solidFill>
                        </a:rPr>
                        <a:t>Interactive user experience</a:t>
                      </a:r>
                      <a:endParaRPr lang="en-US" sz="1250" dirty="0"/>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624"/>
                          </a:solidFill>
                        </a:rPr>
                        <a:t>Limited</a:t>
                      </a:r>
                      <a:endParaRPr lang="en-US" sz="1250" dirty="0"/>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624"/>
                          </a:solidFill>
                        </a:rPr>
                        <a:t>Limited</a:t>
                      </a:r>
                      <a:endParaRPr lang="en-US" sz="1250" dirty="0"/>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F4741"/>
                          </a:solidFill>
                        </a:rPr>
                        <a:t>Yes</a:t>
                      </a:r>
                      <a:endParaRPr lang="en-US" sz="1250" dirty="0"/>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lgn="l">
                        <a:buNone/>
                      </a:pPr>
                      <a:r>
                        <a:rPr lang="en-US" sz="1250" b="1" dirty="0">
                          <a:solidFill>
                            <a:srgbClr val="1B2624"/>
                          </a:solidFill>
                        </a:rPr>
                        <a:t>Suitable for team knowledge</a:t>
                      </a:r>
                      <a:endParaRPr lang="en-US" sz="1250" dirty="0"/>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E1EAE6"/>
                    </a:solidFill>
                  </a:tcPr>
                </a:tc>
                <a:tc>
                  <a:txBody>
                    <a:bodyPr/>
                    <a:lstStyle/>
                    <a:p>
                      <a:pPr marL="0" indent="0" algn="ctr">
                        <a:buNone/>
                      </a:pPr>
                      <a:r>
                        <a:rPr lang="en-US" sz="1250" dirty="0">
                          <a:solidFill>
                            <a:srgbClr val="1B2624"/>
                          </a:solidFill>
                        </a:rPr>
                        <a:t>Limited</a:t>
                      </a:r>
                      <a:endParaRPr lang="en-US" sz="1250" dirty="0"/>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E1EAE6"/>
                    </a:solidFill>
                  </a:tcPr>
                </a:tc>
                <a:tc>
                  <a:txBody>
                    <a:bodyPr/>
                    <a:lstStyle/>
                    <a:p>
                      <a:pPr marL="0" indent="0" algn="ctr">
                        <a:buNone/>
                      </a:pPr>
                      <a:r>
                        <a:rPr lang="en-US" sz="1250" b="1" dirty="0">
                          <a:solidFill>
                            <a:srgbClr val="1F4741"/>
                          </a:solidFill>
                        </a:rPr>
                        <a:t>Yes</a:t>
                      </a:r>
                      <a:endParaRPr lang="en-US" sz="1250" dirty="0"/>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E1EAE6"/>
                    </a:solidFill>
                  </a:tcPr>
                </a:tc>
                <a:tc>
                  <a:txBody>
                    <a:bodyPr/>
                    <a:lstStyle/>
                    <a:p>
                      <a:pPr marL="0" indent="0" algn="ctr">
                        <a:buNone/>
                      </a:pPr>
                      <a:r>
                        <a:rPr lang="en-US" sz="1250" dirty="0">
                          <a:solidFill>
                            <a:srgbClr val="1B2624"/>
                          </a:solidFill>
                        </a:rPr>
                        <a:t>Yes, for a focused experience</a:t>
                      </a:r>
                      <a:endParaRPr lang="en-US" sz="1250" dirty="0"/>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E1EAE6"/>
                    </a:solidFill>
                  </a:tcPr>
                </a:tc>
                <a:extLst>
                  <a:ext uri="{0D108BD9-81ED-4DB2-BD59-A6C34878D82A}">
                    <a16:rowId xmlns:a16="http://schemas.microsoft.com/office/drawing/2014/main" val="10006"/>
                  </a:ext>
                </a:extLst>
              </a:tr>
            </a:tbl>
          </a:graphicData>
        </a:graphic>
      </p:graphicFrame>
      <p:sp>
        <p:nvSpPr>
          <p:cNvPr id="4" name="Text 1"/>
          <p:cNvSpPr/>
          <p:nvPr/>
        </p:nvSpPr>
        <p:spPr>
          <a:xfrm>
            <a:off x="731520" y="5074920"/>
            <a:ext cx="10728655" cy="320040"/>
          </a:xfrm>
          <a:prstGeom prst="rect">
            <a:avLst/>
          </a:prstGeom>
          <a:noFill/>
          <a:ln/>
        </p:spPr>
        <p:txBody>
          <a:bodyPr wrap="square" rtlCol="0" anchor="ctr"/>
          <a:lstStyle/>
          <a:p>
            <a:pPr marL="0" indent="0">
              <a:buNone/>
            </a:pPr>
            <a:r>
              <a:rPr lang="en-US" sz="1300" i="1" dirty="0">
                <a:solidFill>
                  <a:srgbClr val="4E5A57"/>
                </a:solidFill>
                <a:latin typeface="Calibri" pitchFamily="34" charset="0"/>
                <a:ea typeface="Calibri" pitchFamily="34" charset="-122"/>
                <a:cs typeface="Calibri" pitchFamily="34" charset="-120"/>
              </a:rPr>
              <a:t>The important distinction is not simply “more context.” It is the separation of:</a:t>
            </a:r>
            <a:endParaRPr lang="en-US" sz="1300" dirty="0"/>
          </a:p>
        </p:txBody>
      </p:sp>
      <p:sp>
        <p:nvSpPr>
          <p:cNvPr id="3" name="Shape 2"/>
          <p:cNvSpPr/>
          <p:nvPr/>
        </p:nvSpPr>
        <p:spPr>
          <a:xfrm>
            <a:off x="731520" y="5468112"/>
            <a:ext cx="2487168" cy="914400"/>
          </a:xfrm>
          <a:prstGeom prst="roundRect">
            <a:avLst>
              <a:gd name="adj" fmla="val 8000"/>
            </a:avLst>
          </a:prstGeom>
          <a:solidFill>
            <a:srgbClr val="E1EAE6"/>
          </a:solidFill>
          <a:ln/>
        </p:spPr>
        <p:txBody>
          <a:bodyPr/>
          <a:lstStyle/>
          <a:p>
            <a:endParaRPr lang="en-US"/>
          </a:p>
        </p:txBody>
      </p:sp>
      <p:sp>
        <p:nvSpPr>
          <p:cNvPr id="6" name="Shape 3"/>
          <p:cNvSpPr/>
          <p:nvPr/>
        </p:nvSpPr>
        <p:spPr>
          <a:xfrm>
            <a:off x="896112" y="5641848"/>
            <a:ext cx="566928" cy="566928"/>
          </a:xfrm>
          <a:prstGeom prst="ellipse">
            <a:avLst/>
          </a:prstGeom>
          <a:solidFill>
            <a:srgbClr val="1F4741"/>
          </a:solidFill>
          <a:ln/>
        </p:spPr>
        <p:txBody>
          <a:bodyPr/>
          <a:lstStyle/>
          <a:p>
            <a:endParaRPr lang="en-US"/>
          </a:p>
        </p:txBody>
      </p:sp>
      <p:pic>
        <p:nvPicPr>
          <p:cNvPr id="7" name="Image 0" descr="/home/claude/deck/assets/icons/chat-white.png"/>
          <p:cNvPicPr>
            <a:picLocks noChangeAspect="1"/>
          </p:cNvPicPr>
          <p:nvPr/>
        </p:nvPicPr>
        <p:blipFill>
          <a:blip r:embed="rId3"/>
          <a:stretch>
            <a:fillRect/>
          </a:stretch>
        </p:blipFill>
        <p:spPr>
          <a:xfrm>
            <a:off x="1032175" y="5777911"/>
            <a:ext cx="294803" cy="294803"/>
          </a:xfrm>
          <a:prstGeom prst="rect">
            <a:avLst/>
          </a:prstGeom>
        </p:spPr>
      </p:pic>
      <p:sp>
        <p:nvSpPr>
          <p:cNvPr id="8" name="Text 4"/>
          <p:cNvSpPr/>
          <p:nvPr/>
        </p:nvSpPr>
        <p:spPr>
          <a:xfrm>
            <a:off x="1600200" y="5468112"/>
            <a:ext cx="1527048" cy="914400"/>
          </a:xfrm>
          <a:prstGeom prst="rect">
            <a:avLst/>
          </a:prstGeom>
          <a:noFill/>
          <a:ln/>
        </p:spPr>
        <p:txBody>
          <a:bodyPr wrap="square" rtlCol="0" anchor="ctr"/>
          <a:lstStyle/>
          <a:p>
            <a:pPr marL="0" indent="0">
              <a:buNone/>
            </a:pPr>
            <a:r>
              <a:rPr lang="en-US" sz="1200" b="1" dirty="0">
                <a:solidFill>
                  <a:srgbClr val="14322D"/>
                </a:solidFill>
                <a:latin typeface="Calibri" pitchFamily="34" charset="0"/>
                <a:ea typeface="Calibri" pitchFamily="34" charset="-122"/>
                <a:cs typeface="Calibri" pitchFamily="34" charset="-120"/>
              </a:rPr>
              <a:t>Conversation</a:t>
            </a:r>
            <a:endParaRPr lang="en-US" sz="1200" dirty="0"/>
          </a:p>
          <a:p>
            <a:pPr marL="0" indent="0">
              <a:buNone/>
            </a:pPr>
            <a:r>
              <a:rPr lang="en-US" sz="1200" b="1" dirty="0">
                <a:solidFill>
                  <a:srgbClr val="14322D"/>
                </a:solidFill>
                <a:latin typeface="Calibri" pitchFamily="34" charset="0"/>
                <a:ea typeface="Calibri" pitchFamily="34" charset="-122"/>
                <a:cs typeface="Calibri" pitchFamily="34" charset="-120"/>
              </a:rPr>
              <a:t>history</a:t>
            </a:r>
            <a:endParaRPr lang="en-US" sz="1200" dirty="0"/>
          </a:p>
        </p:txBody>
      </p:sp>
      <p:sp>
        <p:nvSpPr>
          <p:cNvPr id="9" name="Shape 5"/>
          <p:cNvSpPr/>
          <p:nvPr/>
        </p:nvSpPr>
        <p:spPr>
          <a:xfrm>
            <a:off x="3364992" y="5468112"/>
            <a:ext cx="2487168" cy="914400"/>
          </a:xfrm>
          <a:prstGeom prst="roundRect">
            <a:avLst>
              <a:gd name="adj" fmla="val 8000"/>
            </a:avLst>
          </a:prstGeom>
          <a:solidFill>
            <a:srgbClr val="E1EAE6"/>
          </a:solidFill>
          <a:ln/>
        </p:spPr>
        <p:txBody>
          <a:bodyPr/>
          <a:lstStyle/>
          <a:p>
            <a:endParaRPr lang="en-US"/>
          </a:p>
        </p:txBody>
      </p:sp>
      <p:sp>
        <p:nvSpPr>
          <p:cNvPr id="10" name="Shape 6"/>
          <p:cNvSpPr/>
          <p:nvPr/>
        </p:nvSpPr>
        <p:spPr>
          <a:xfrm>
            <a:off x="3529584" y="5641848"/>
            <a:ext cx="566928" cy="566928"/>
          </a:xfrm>
          <a:prstGeom prst="ellipse">
            <a:avLst/>
          </a:prstGeom>
          <a:solidFill>
            <a:srgbClr val="1F4741"/>
          </a:solidFill>
          <a:ln/>
        </p:spPr>
        <p:txBody>
          <a:bodyPr/>
          <a:lstStyle/>
          <a:p>
            <a:endParaRPr lang="en-US"/>
          </a:p>
        </p:txBody>
      </p:sp>
      <p:pic>
        <p:nvPicPr>
          <p:cNvPr id="11" name="Image 1" descr="/home/claude/deck/assets/icons/edit-white.png"/>
          <p:cNvPicPr>
            <a:picLocks noChangeAspect="1"/>
          </p:cNvPicPr>
          <p:nvPr/>
        </p:nvPicPr>
        <p:blipFill>
          <a:blip r:embed="rId4"/>
          <a:stretch>
            <a:fillRect/>
          </a:stretch>
        </p:blipFill>
        <p:spPr>
          <a:xfrm>
            <a:off x="3665647" y="5777911"/>
            <a:ext cx="294803" cy="294803"/>
          </a:xfrm>
          <a:prstGeom prst="rect">
            <a:avLst/>
          </a:prstGeom>
        </p:spPr>
      </p:pic>
      <p:sp>
        <p:nvSpPr>
          <p:cNvPr id="12" name="Text 7"/>
          <p:cNvSpPr/>
          <p:nvPr/>
        </p:nvSpPr>
        <p:spPr>
          <a:xfrm>
            <a:off x="4233672" y="5468112"/>
            <a:ext cx="1527048" cy="914400"/>
          </a:xfrm>
          <a:prstGeom prst="rect">
            <a:avLst/>
          </a:prstGeom>
          <a:noFill/>
          <a:ln/>
        </p:spPr>
        <p:txBody>
          <a:bodyPr wrap="square" rtlCol="0" anchor="ctr"/>
          <a:lstStyle/>
          <a:p>
            <a:pPr marL="0" indent="0">
              <a:buNone/>
            </a:pPr>
            <a:r>
              <a:rPr lang="en-US" sz="1200" b="1" dirty="0">
                <a:solidFill>
                  <a:srgbClr val="14322D"/>
                </a:solidFill>
                <a:latin typeface="Calibri" pitchFamily="34" charset="0"/>
                <a:ea typeface="Calibri" pitchFamily="34" charset="-122"/>
                <a:cs typeface="Calibri" pitchFamily="34" charset="-120"/>
              </a:rPr>
              <a:t>Reusable</a:t>
            </a:r>
            <a:endParaRPr lang="en-US" sz="1200" dirty="0"/>
          </a:p>
          <a:p>
            <a:pPr marL="0" indent="0">
              <a:buNone/>
            </a:pPr>
            <a:r>
              <a:rPr lang="en-US" sz="1200" b="1" dirty="0">
                <a:solidFill>
                  <a:srgbClr val="14322D"/>
                </a:solidFill>
                <a:latin typeface="Calibri" pitchFamily="34" charset="0"/>
                <a:ea typeface="Calibri" pitchFamily="34" charset="-122"/>
                <a:cs typeface="Calibri" pitchFamily="34" charset="-120"/>
              </a:rPr>
              <a:t>instructions</a:t>
            </a:r>
            <a:endParaRPr lang="en-US" sz="1200" dirty="0"/>
          </a:p>
        </p:txBody>
      </p:sp>
      <p:sp>
        <p:nvSpPr>
          <p:cNvPr id="13" name="Shape 8"/>
          <p:cNvSpPr/>
          <p:nvPr/>
        </p:nvSpPr>
        <p:spPr>
          <a:xfrm>
            <a:off x="5998464" y="5468112"/>
            <a:ext cx="2487168" cy="914400"/>
          </a:xfrm>
          <a:prstGeom prst="roundRect">
            <a:avLst>
              <a:gd name="adj" fmla="val 8000"/>
            </a:avLst>
          </a:prstGeom>
          <a:solidFill>
            <a:srgbClr val="E1EAE6"/>
          </a:solidFill>
          <a:ln/>
        </p:spPr>
        <p:txBody>
          <a:bodyPr/>
          <a:lstStyle/>
          <a:p>
            <a:endParaRPr lang="en-US"/>
          </a:p>
        </p:txBody>
      </p:sp>
      <p:sp>
        <p:nvSpPr>
          <p:cNvPr id="14" name="Shape 9"/>
          <p:cNvSpPr/>
          <p:nvPr/>
        </p:nvSpPr>
        <p:spPr>
          <a:xfrm>
            <a:off x="6163056" y="5641848"/>
            <a:ext cx="566928" cy="566928"/>
          </a:xfrm>
          <a:prstGeom prst="ellipse">
            <a:avLst/>
          </a:prstGeom>
          <a:solidFill>
            <a:srgbClr val="1F4741"/>
          </a:solidFill>
          <a:ln/>
        </p:spPr>
        <p:txBody>
          <a:bodyPr/>
          <a:lstStyle/>
          <a:p>
            <a:endParaRPr lang="en-US"/>
          </a:p>
        </p:txBody>
      </p:sp>
      <p:pic>
        <p:nvPicPr>
          <p:cNvPr id="15" name="Image 2" descr="/home/claude/deck/assets/icons/filetext-white.png"/>
          <p:cNvPicPr>
            <a:picLocks noChangeAspect="1"/>
          </p:cNvPicPr>
          <p:nvPr/>
        </p:nvPicPr>
        <p:blipFill>
          <a:blip r:embed="rId5"/>
          <a:stretch>
            <a:fillRect/>
          </a:stretch>
        </p:blipFill>
        <p:spPr>
          <a:xfrm>
            <a:off x="6299119" y="5777911"/>
            <a:ext cx="294803" cy="294803"/>
          </a:xfrm>
          <a:prstGeom prst="rect">
            <a:avLst/>
          </a:prstGeom>
        </p:spPr>
      </p:pic>
      <p:sp>
        <p:nvSpPr>
          <p:cNvPr id="16" name="Text 10"/>
          <p:cNvSpPr/>
          <p:nvPr/>
        </p:nvSpPr>
        <p:spPr>
          <a:xfrm>
            <a:off x="6867144" y="5468112"/>
            <a:ext cx="1527048" cy="914400"/>
          </a:xfrm>
          <a:prstGeom prst="rect">
            <a:avLst/>
          </a:prstGeom>
          <a:noFill/>
          <a:ln/>
        </p:spPr>
        <p:txBody>
          <a:bodyPr wrap="square" rtlCol="0" anchor="ctr"/>
          <a:lstStyle/>
          <a:p>
            <a:pPr marL="0" indent="0">
              <a:buNone/>
            </a:pPr>
            <a:r>
              <a:rPr lang="en-US" sz="1200" b="1" dirty="0">
                <a:solidFill>
                  <a:srgbClr val="14322D"/>
                </a:solidFill>
                <a:latin typeface="Calibri" pitchFamily="34" charset="0"/>
                <a:ea typeface="Calibri" pitchFamily="34" charset="-122"/>
                <a:cs typeface="Calibri" pitchFamily="34" charset="-120"/>
              </a:rPr>
              <a:t>Reusable</a:t>
            </a:r>
            <a:endParaRPr lang="en-US" sz="1200" dirty="0"/>
          </a:p>
          <a:p>
            <a:pPr marL="0" indent="0">
              <a:buNone/>
            </a:pPr>
            <a:r>
              <a:rPr lang="en-US" sz="1200" b="1" dirty="0">
                <a:solidFill>
                  <a:srgbClr val="14322D"/>
                </a:solidFill>
                <a:latin typeface="Calibri" pitchFamily="34" charset="0"/>
                <a:ea typeface="Calibri" pitchFamily="34" charset="-122"/>
                <a:cs typeface="Calibri" pitchFamily="34" charset="-120"/>
              </a:rPr>
              <a:t>knowledge</a:t>
            </a:r>
            <a:endParaRPr lang="en-US" sz="1200" dirty="0"/>
          </a:p>
        </p:txBody>
      </p:sp>
      <p:sp>
        <p:nvSpPr>
          <p:cNvPr id="17" name="Shape 11"/>
          <p:cNvSpPr/>
          <p:nvPr/>
        </p:nvSpPr>
        <p:spPr>
          <a:xfrm>
            <a:off x="8631936" y="5468112"/>
            <a:ext cx="2487168" cy="914400"/>
          </a:xfrm>
          <a:prstGeom prst="roundRect">
            <a:avLst>
              <a:gd name="adj" fmla="val 8000"/>
            </a:avLst>
          </a:prstGeom>
          <a:solidFill>
            <a:srgbClr val="E1EAE6"/>
          </a:solidFill>
          <a:ln/>
        </p:spPr>
        <p:txBody>
          <a:bodyPr/>
          <a:lstStyle/>
          <a:p>
            <a:endParaRPr lang="en-US"/>
          </a:p>
        </p:txBody>
      </p:sp>
      <p:sp>
        <p:nvSpPr>
          <p:cNvPr id="18" name="Shape 12"/>
          <p:cNvSpPr/>
          <p:nvPr/>
        </p:nvSpPr>
        <p:spPr>
          <a:xfrm>
            <a:off x="8796528" y="5641848"/>
            <a:ext cx="566928" cy="566928"/>
          </a:xfrm>
          <a:prstGeom prst="ellipse">
            <a:avLst/>
          </a:prstGeom>
          <a:solidFill>
            <a:srgbClr val="1F4741"/>
          </a:solidFill>
          <a:ln/>
        </p:spPr>
        <p:txBody>
          <a:bodyPr/>
          <a:lstStyle/>
          <a:p>
            <a:endParaRPr lang="en-US"/>
          </a:p>
        </p:txBody>
      </p:sp>
      <p:pic>
        <p:nvPicPr>
          <p:cNvPr id="19" name="Image 3" descr="/home/claude/deck/assets/icons/layers-white.png"/>
          <p:cNvPicPr>
            <a:picLocks noChangeAspect="1"/>
          </p:cNvPicPr>
          <p:nvPr/>
        </p:nvPicPr>
        <p:blipFill>
          <a:blip r:embed="rId6"/>
          <a:stretch>
            <a:fillRect/>
          </a:stretch>
        </p:blipFill>
        <p:spPr>
          <a:xfrm>
            <a:off x="8932591" y="5777911"/>
            <a:ext cx="294803" cy="294803"/>
          </a:xfrm>
          <a:prstGeom prst="rect">
            <a:avLst/>
          </a:prstGeom>
        </p:spPr>
      </p:pic>
      <p:sp>
        <p:nvSpPr>
          <p:cNvPr id="20" name="Text 13"/>
          <p:cNvSpPr/>
          <p:nvPr/>
        </p:nvSpPr>
        <p:spPr>
          <a:xfrm>
            <a:off x="9500616" y="5468112"/>
            <a:ext cx="1527048" cy="914400"/>
          </a:xfrm>
          <a:prstGeom prst="rect">
            <a:avLst/>
          </a:prstGeom>
          <a:noFill/>
          <a:ln/>
        </p:spPr>
        <p:txBody>
          <a:bodyPr wrap="square" rtlCol="0" anchor="ctr"/>
          <a:lstStyle/>
          <a:p>
            <a:pPr marL="0" indent="0">
              <a:buNone/>
            </a:pPr>
            <a:r>
              <a:rPr lang="en-US" sz="1200" b="1" dirty="0">
                <a:solidFill>
                  <a:srgbClr val="14322D"/>
                </a:solidFill>
                <a:latin typeface="Calibri" pitchFamily="34" charset="0"/>
                <a:ea typeface="Calibri" pitchFamily="34" charset="-122"/>
                <a:cs typeface="Calibri" pitchFamily="34" charset="-120"/>
              </a:rPr>
              <a:t>Reusable</a:t>
            </a:r>
            <a:endParaRPr lang="en-US" sz="1200" dirty="0"/>
          </a:p>
          <a:p>
            <a:pPr marL="0" indent="0">
              <a:buNone/>
            </a:pPr>
            <a:r>
              <a:rPr lang="en-US" sz="1200" b="1" dirty="0">
                <a:solidFill>
                  <a:srgbClr val="14322D"/>
                </a:solidFill>
                <a:latin typeface="Calibri" pitchFamily="34" charset="0"/>
                <a:ea typeface="Calibri" pitchFamily="34" charset="-122"/>
                <a:cs typeface="Calibri" pitchFamily="34" charset="-120"/>
              </a:rPr>
              <a:t>output</a:t>
            </a:r>
            <a:endParaRPr lang="en-US" sz="1200" dirty="0"/>
          </a:p>
        </p:txBody>
      </p:sp>
      <p:sp>
        <p:nvSpPr>
          <p:cNvPr id="21" name="Text 14"/>
          <p:cNvSpPr/>
          <p:nvPr/>
        </p:nvSpPr>
        <p:spPr>
          <a:xfrm>
            <a:off x="731520" y="6355080"/>
            <a:ext cx="7315200" cy="320040"/>
          </a:xfrm>
          <a:prstGeom prst="rect">
            <a:avLst/>
          </a:prstGeom>
          <a:noFill/>
          <a:ln/>
        </p:spPr>
        <p:txBody>
          <a:bodyPr wrap="square" rtlCol="0" anchor="ctr"/>
          <a:lstStyle/>
          <a:p>
            <a:pPr marL="0" indent="0" algn="l">
              <a:buNone/>
            </a:pPr>
            <a:r>
              <a:rPr lang="en-US" sz="1000" dirty="0">
                <a:solidFill>
                  <a:srgbClr val="4E5A57"/>
                </a:solidFill>
                <a:latin typeface="Calibri" pitchFamily="34" charset="0"/>
                <a:ea typeface="Calibri" pitchFamily="34" charset="-122"/>
                <a:cs typeface="Calibri" pitchFamily="34" charset="-120"/>
              </a:rPr>
              <a:t>Beyond the Chat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322D"/>
        </a:solidFill>
        <a:effectLst/>
      </p:bgPr>
    </p:bg>
    <p:spTree>
      <p:nvGrpSpPr>
        <p:cNvPr id="1" name=""/>
        <p:cNvGrpSpPr/>
        <p:nvPr/>
      </p:nvGrpSpPr>
      <p:grpSpPr>
        <a:xfrm>
          <a:off x="0" y="0"/>
          <a:ext cx="0" cy="0"/>
          <a:chOff x="0" y="0"/>
          <a:chExt cx="0" cy="0"/>
        </a:xfrm>
      </p:grpSpPr>
      <p:sp>
        <p:nvSpPr>
          <p:cNvPr id="2" name="Text 0"/>
          <p:cNvSpPr/>
          <p:nvPr/>
        </p:nvSpPr>
        <p:spPr>
          <a:xfrm>
            <a:off x="0" y="354028"/>
            <a:ext cx="12191695" cy="365760"/>
          </a:xfrm>
          <a:prstGeom prst="rect">
            <a:avLst/>
          </a:prstGeom>
          <a:noFill/>
          <a:ln/>
        </p:spPr>
        <p:txBody>
          <a:bodyPr wrap="square" rtlCol="0" anchor="ctr"/>
          <a:lstStyle/>
          <a:p>
            <a:pPr marL="0" indent="0" algn="ctr">
              <a:buNone/>
            </a:pPr>
            <a:r>
              <a:rPr lang="en-US" sz="1300" b="1" kern="0" spc="200" dirty="0">
                <a:solidFill>
                  <a:srgbClr val="B8862E"/>
                </a:solidFill>
                <a:latin typeface="Calibri" pitchFamily="34" charset="0"/>
                <a:ea typeface="Calibri" pitchFamily="34" charset="-122"/>
                <a:cs typeface="Calibri" pitchFamily="34" charset="-120"/>
              </a:rPr>
              <a:t>LIVE DEMONSTRATION</a:t>
            </a:r>
            <a:endParaRPr lang="en-US" sz="1300" dirty="0"/>
          </a:p>
        </p:txBody>
      </p:sp>
      <p:sp>
        <p:nvSpPr>
          <p:cNvPr id="3" name="Text 1"/>
          <p:cNvSpPr/>
          <p:nvPr/>
        </p:nvSpPr>
        <p:spPr>
          <a:xfrm>
            <a:off x="0" y="719788"/>
            <a:ext cx="12191695" cy="64008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Pet Care Coach, start to finish</a:t>
            </a:r>
            <a:endParaRPr lang="en-US" sz="3000" dirty="0"/>
          </a:p>
        </p:txBody>
      </p:sp>
      <p:sp>
        <p:nvSpPr>
          <p:cNvPr id="4" name="Shape 2"/>
          <p:cNvSpPr/>
          <p:nvPr/>
        </p:nvSpPr>
        <p:spPr>
          <a:xfrm>
            <a:off x="4343400" y="1634188"/>
            <a:ext cx="548640" cy="548640"/>
          </a:xfrm>
          <a:prstGeom prst="ellipse">
            <a:avLst/>
          </a:prstGeom>
          <a:solidFill>
            <a:srgbClr val="B8862E"/>
          </a:solidFill>
          <a:ln/>
        </p:spPr>
        <p:txBody>
          <a:bodyPr/>
          <a:lstStyle/>
          <a:p>
            <a:endParaRPr lang="en-US"/>
          </a:p>
        </p:txBody>
      </p:sp>
      <p:pic>
        <p:nvPicPr>
          <p:cNvPr id="5" name="Image 0" descr="/home/claude/deck/assets/icons/filetext-pinedeep.png"/>
          <p:cNvPicPr>
            <a:picLocks noChangeAspect="1"/>
          </p:cNvPicPr>
          <p:nvPr/>
        </p:nvPicPr>
        <p:blipFill>
          <a:blip r:embed="rId3"/>
          <a:stretch>
            <a:fillRect/>
          </a:stretch>
        </p:blipFill>
        <p:spPr>
          <a:xfrm>
            <a:off x="4475074" y="2097634"/>
            <a:ext cx="285293" cy="285293"/>
          </a:xfrm>
          <a:prstGeom prst="rect">
            <a:avLst/>
          </a:prstGeom>
        </p:spPr>
      </p:pic>
      <p:sp>
        <p:nvSpPr>
          <p:cNvPr id="6" name="Text 3"/>
          <p:cNvSpPr/>
          <p:nvPr/>
        </p:nvSpPr>
        <p:spPr>
          <a:xfrm>
            <a:off x="5166360" y="1634188"/>
            <a:ext cx="4846320" cy="5486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Knowledge files</a:t>
            </a:r>
            <a:endParaRPr lang="en-US" sz="1600" dirty="0"/>
          </a:p>
        </p:txBody>
      </p:sp>
      <p:pic>
        <p:nvPicPr>
          <p:cNvPr id="7" name="Image 1" descr="/home/claude/deck/assets/icons/arrowright-amber.png"/>
          <p:cNvPicPr>
            <a:picLocks noChangeAspect="1"/>
          </p:cNvPicPr>
          <p:nvPr/>
        </p:nvPicPr>
        <p:blipFill>
          <a:blip r:embed="rId4"/>
          <a:stretch>
            <a:fillRect/>
          </a:stretch>
        </p:blipFill>
        <p:spPr>
          <a:xfrm rot="5400000">
            <a:off x="4462272" y="2569464"/>
            <a:ext cx="310896" cy="310896"/>
          </a:xfrm>
          <a:prstGeom prst="rect">
            <a:avLst/>
          </a:prstGeom>
        </p:spPr>
      </p:pic>
      <p:sp>
        <p:nvSpPr>
          <p:cNvPr id="8" name="Shape 4"/>
          <p:cNvSpPr/>
          <p:nvPr/>
        </p:nvSpPr>
        <p:spPr>
          <a:xfrm>
            <a:off x="4343400" y="2713180"/>
            <a:ext cx="548640" cy="548640"/>
          </a:xfrm>
          <a:prstGeom prst="ellipse">
            <a:avLst/>
          </a:prstGeom>
          <a:solidFill>
            <a:srgbClr val="B8862E"/>
          </a:solidFill>
          <a:ln/>
        </p:spPr>
        <p:txBody>
          <a:bodyPr/>
          <a:lstStyle/>
          <a:p>
            <a:endParaRPr lang="en-US"/>
          </a:p>
        </p:txBody>
      </p:sp>
      <p:pic>
        <p:nvPicPr>
          <p:cNvPr id="9" name="Image 2" descr="/home/claude/deck/assets/icons/folder-pinedeep.png"/>
          <p:cNvPicPr>
            <a:picLocks noChangeAspect="1"/>
          </p:cNvPicPr>
          <p:nvPr/>
        </p:nvPicPr>
        <p:blipFill>
          <a:blip r:embed="rId5"/>
          <a:stretch>
            <a:fillRect/>
          </a:stretch>
        </p:blipFill>
        <p:spPr>
          <a:xfrm>
            <a:off x="4475074" y="3176626"/>
            <a:ext cx="285293" cy="285293"/>
          </a:xfrm>
          <a:prstGeom prst="rect">
            <a:avLst/>
          </a:prstGeom>
        </p:spPr>
      </p:pic>
      <p:sp>
        <p:nvSpPr>
          <p:cNvPr id="10" name="Text 5"/>
          <p:cNvSpPr/>
          <p:nvPr/>
        </p:nvSpPr>
        <p:spPr>
          <a:xfrm>
            <a:off x="5166360" y="2713180"/>
            <a:ext cx="4846320" cy="5486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Claude Project</a:t>
            </a:r>
            <a:endParaRPr lang="en-US" sz="1600" dirty="0"/>
          </a:p>
        </p:txBody>
      </p:sp>
      <p:pic>
        <p:nvPicPr>
          <p:cNvPr id="11" name="Image 3" descr="/home/claude/deck/assets/icons/arrowright-amber.png"/>
          <p:cNvPicPr>
            <a:picLocks noChangeAspect="1"/>
          </p:cNvPicPr>
          <p:nvPr/>
        </p:nvPicPr>
        <p:blipFill>
          <a:blip r:embed="rId4"/>
          <a:stretch>
            <a:fillRect/>
          </a:stretch>
        </p:blipFill>
        <p:spPr>
          <a:xfrm rot="5400000">
            <a:off x="4462272" y="3648456"/>
            <a:ext cx="310896" cy="310896"/>
          </a:xfrm>
          <a:prstGeom prst="rect">
            <a:avLst/>
          </a:prstGeom>
        </p:spPr>
      </p:pic>
      <p:sp>
        <p:nvSpPr>
          <p:cNvPr id="12" name="Shape 6"/>
          <p:cNvSpPr/>
          <p:nvPr/>
        </p:nvSpPr>
        <p:spPr>
          <a:xfrm>
            <a:off x="4343400" y="3792172"/>
            <a:ext cx="548640" cy="548640"/>
          </a:xfrm>
          <a:prstGeom prst="ellipse">
            <a:avLst/>
          </a:prstGeom>
          <a:solidFill>
            <a:srgbClr val="B8862E"/>
          </a:solidFill>
          <a:ln/>
        </p:spPr>
        <p:txBody>
          <a:bodyPr/>
          <a:lstStyle/>
          <a:p>
            <a:endParaRPr lang="en-US"/>
          </a:p>
        </p:txBody>
      </p:sp>
      <p:pic>
        <p:nvPicPr>
          <p:cNvPr id="13" name="Image 4" descr="/home/claude/deck/assets/icons/chat-pinedeep.png"/>
          <p:cNvPicPr>
            <a:picLocks noChangeAspect="1"/>
          </p:cNvPicPr>
          <p:nvPr/>
        </p:nvPicPr>
        <p:blipFill>
          <a:blip r:embed="rId6"/>
          <a:stretch>
            <a:fillRect/>
          </a:stretch>
        </p:blipFill>
        <p:spPr>
          <a:xfrm>
            <a:off x="4475074" y="4255618"/>
            <a:ext cx="285293" cy="285293"/>
          </a:xfrm>
          <a:prstGeom prst="rect">
            <a:avLst/>
          </a:prstGeom>
        </p:spPr>
      </p:pic>
      <p:sp>
        <p:nvSpPr>
          <p:cNvPr id="14" name="Text 7"/>
          <p:cNvSpPr/>
          <p:nvPr/>
        </p:nvSpPr>
        <p:spPr>
          <a:xfrm>
            <a:off x="5166360" y="3792172"/>
            <a:ext cx="4846320" cy="5486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Multiple grounded conversations</a:t>
            </a:r>
            <a:endParaRPr lang="en-US" sz="1600" dirty="0"/>
          </a:p>
        </p:txBody>
      </p:sp>
      <p:pic>
        <p:nvPicPr>
          <p:cNvPr id="15" name="Image 5" descr="/home/claude/deck/assets/icons/arrowright-amber.png"/>
          <p:cNvPicPr>
            <a:picLocks noChangeAspect="1"/>
          </p:cNvPicPr>
          <p:nvPr/>
        </p:nvPicPr>
        <p:blipFill>
          <a:blip r:embed="rId4"/>
          <a:stretch>
            <a:fillRect/>
          </a:stretch>
        </p:blipFill>
        <p:spPr>
          <a:xfrm rot="5400000">
            <a:off x="4462272" y="4727448"/>
            <a:ext cx="310896" cy="310896"/>
          </a:xfrm>
          <a:prstGeom prst="rect">
            <a:avLst/>
          </a:prstGeom>
        </p:spPr>
      </p:pic>
      <p:sp>
        <p:nvSpPr>
          <p:cNvPr id="16" name="Shape 8"/>
          <p:cNvSpPr/>
          <p:nvPr/>
        </p:nvSpPr>
        <p:spPr>
          <a:xfrm>
            <a:off x="4343400" y="4871164"/>
            <a:ext cx="548640" cy="548640"/>
          </a:xfrm>
          <a:prstGeom prst="ellipse">
            <a:avLst/>
          </a:prstGeom>
          <a:solidFill>
            <a:srgbClr val="B8862E"/>
          </a:solidFill>
          <a:ln/>
        </p:spPr>
        <p:txBody>
          <a:bodyPr/>
          <a:lstStyle/>
          <a:p>
            <a:endParaRPr lang="en-US"/>
          </a:p>
        </p:txBody>
      </p:sp>
      <p:pic>
        <p:nvPicPr>
          <p:cNvPr id="17" name="Image 6" descr="/home/claude/deck/assets/icons/layers-pinedeep.png"/>
          <p:cNvPicPr>
            <a:picLocks noChangeAspect="1"/>
          </p:cNvPicPr>
          <p:nvPr/>
        </p:nvPicPr>
        <p:blipFill>
          <a:blip r:embed="rId7"/>
          <a:stretch>
            <a:fillRect/>
          </a:stretch>
        </p:blipFill>
        <p:spPr>
          <a:xfrm>
            <a:off x="4475074" y="5334610"/>
            <a:ext cx="285293" cy="285293"/>
          </a:xfrm>
          <a:prstGeom prst="rect">
            <a:avLst/>
          </a:prstGeom>
        </p:spPr>
      </p:pic>
      <p:sp>
        <p:nvSpPr>
          <p:cNvPr id="18" name="Text 9"/>
          <p:cNvSpPr/>
          <p:nvPr/>
        </p:nvSpPr>
        <p:spPr>
          <a:xfrm>
            <a:off x="5166360" y="4871164"/>
            <a:ext cx="4846320" cy="5486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Interactive Artifact</a:t>
            </a:r>
            <a:endParaRPr lang="en-US" sz="1600" dirty="0"/>
          </a:p>
        </p:txBody>
      </p:sp>
      <p:pic>
        <p:nvPicPr>
          <p:cNvPr id="19" name="Image 7" descr="/home/claude/deck/assets/icons/arrowright-amber.png"/>
          <p:cNvPicPr>
            <a:picLocks noChangeAspect="1"/>
          </p:cNvPicPr>
          <p:nvPr/>
        </p:nvPicPr>
        <p:blipFill>
          <a:blip r:embed="rId4"/>
          <a:stretch>
            <a:fillRect/>
          </a:stretch>
        </p:blipFill>
        <p:spPr>
          <a:xfrm rot="5400000">
            <a:off x="4462272" y="5806440"/>
            <a:ext cx="310896" cy="310896"/>
          </a:xfrm>
          <a:prstGeom prst="rect">
            <a:avLst/>
          </a:prstGeom>
        </p:spPr>
      </p:pic>
      <p:sp>
        <p:nvSpPr>
          <p:cNvPr id="20" name="Shape 10"/>
          <p:cNvSpPr/>
          <p:nvPr/>
        </p:nvSpPr>
        <p:spPr>
          <a:xfrm>
            <a:off x="4343400" y="5950156"/>
            <a:ext cx="548640" cy="548640"/>
          </a:xfrm>
          <a:prstGeom prst="ellipse">
            <a:avLst/>
          </a:prstGeom>
          <a:solidFill>
            <a:srgbClr val="B8862E"/>
          </a:solidFill>
          <a:ln/>
        </p:spPr>
        <p:txBody>
          <a:bodyPr/>
          <a:lstStyle/>
          <a:p>
            <a:endParaRPr lang="en-US"/>
          </a:p>
        </p:txBody>
      </p:sp>
      <p:pic>
        <p:nvPicPr>
          <p:cNvPr id="21" name="Image 8" descr="/home/claude/deck/assets/icons/edit-pinedeep.png"/>
          <p:cNvPicPr>
            <a:picLocks noChangeAspect="1"/>
          </p:cNvPicPr>
          <p:nvPr/>
        </p:nvPicPr>
        <p:blipFill>
          <a:blip r:embed="rId8"/>
          <a:stretch>
            <a:fillRect/>
          </a:stretch>
        </p:blipFill>
        <p:spPr>
          <a:xfrm>
            <a:off x="4475074" y="6413602"/>
            <a:ext cx="285293" cy="285293"/>
          </a:xfrm>
          <a:prstGeom prst="rect">
            <a:avLst/>
          </a:prstGeom>
        </p:spPr>
      </p:pic>
      <p:sp>
        <p:nvSpPr>
          <p:cNvPr id="22" name="Text 11"/>
          <p:cNvSpPr/>
          <p:nvPr/>
        </p:nvSpPr>
        <p:spPr>
          <a:xfrm>
            <a:off x="5166360" y="5950156"/>
            <a:ext cx="4846320" cy="5486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Live product enhancement</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411480"/>
            <a:ext cx="10728655" cy="777240"/>
          </a:xfrm>
          <a:prstGeom prst="rect">
            <a:avLst/>
          </a:prstGeom>
          <a:noFill/>
          <a:ln/>
        </p:spPr>
        <p:txBody>
          <a:bodyPr wrap="square" rtlCol="0" anchor="ctr"/>
          <a:lstStyle/>
          <a:p>
            <a:pPr marL="0" indent="0" algn="l">
              <a:buNone/>
            </a:pPr>
            <a:r>
              <a:rPr lang="en-US" sz="3200" b="1" dirty="0">
                <a:solidFill>
                  <a:srgbClr val="14322D"/>
                </a:solidFill>
                <a:latin typeface="Cambria" pitchFamily="34" charset="0"/>
                <a:ea typeface="Cambria" pitchFamily="34" charset="-122"/>
                <a:cs typeface="Cambria" pitchFamily="34" charset="-120"/>
              </a:rPr>
              <a:t>What We Just Built</a:t>
            </a:r>
            <a:endParaRPr lang="en-US" sz="3200" dirty="0"/>
          </a:p>
        </p:txBody>
      </p:sp>
      <p:sp>
        <p:nvSpPr>
          <p:cNvPr id="3" name="Text 1"/>
          <p:cNvSpPr/>
          <p:nvPr/>
        </p:nvSpPr>
        <p:spPr>
          <a:xfrm>
            <a:off x="731520" y="1371600"/>
            <a:ext cx="6035040" cy="274320"/>
          </a:xfrm>
          <a:prstGeom prst="rect">
            <a:avLst/>
          </a:prstGeom>
          <a:noFill/>
          <a:ln/>
        </p:spPr>
        <p:txBody>
          <a:bodyPr wrap="square" rtlCol="0" anchor="ctr"/>
          <a:lstStyle/>
          <a:p>
            <a:pPr marL="0" indent="0">
              <a:buNone/>
            </a:pPr>
            <a:r>
              <a:rPr lang="en-US" sz="1200" b="1" kern="0" spc="100" dirty="0">
                <a:solidFill>
                  <a:srgbClr val="14322D"/>
                </a:solidFill>
                <a:latin typeface="Calibri" pitchFamily="34" charset="0"/>
                <a:ea typeface="Calibri" pitchFamily="34" charset="-122"/>
                <a:cs typeface="Calibri" pitchFamily="34" charset="-120"/>
              </a:rPr>
              <a:t>PRODUCT KNOWLEDGE</a:t>
            </a:r>
            <a:endParaRPr lang="en-US" sz="1200" dirty="0"/>
          </a:p>
        </p:txBody>
      </p:sp>
      <p:sp>
        <p:nvSpPr>
          <p:cNvPr id="4" name="Shape 2"/>
          <p:cNvSpPr/>
          <p:nvPr/>
        </p:nvSpPr>
        <p:spPr>
          <a:xfrm>
            <a:off x="731520" y="1691640"/>
            <a:ext cx="1440180" cy="384048"/>
          </a:xfrm>
          <a:prstGeom prst="roundRect">
            <a:avLst>
              <a:gd name="adj" fmla="val 19048"/>
            </a:avLst>
          </a:prstGeom>
          <a:solidFill>
            <a:srgbClr val="E1EAE6"/>
          </a:solidFill>
          <a:ln/>
        </p:spPr>
        <p:txBody>
          <a:bodyPr/>
          <a:lstStyle/>
          <a:p>
            <a:endParaRPr lang="en-US"/>
          </a:p>
        </p:txBody>
      </p:sp>
      <p:sp>
        <p:nvSpPr>
          <p:cNvPr id="5" name="Text 3"/>
          <p:cNvSpPr/>
          <p:nvPr/>
        </p:nvSpPr>
        <p:spPr>
          <a:xfrm>
            <a:off x="804672" y="1691640"/>
            <a:ext cx="1293876" cy="384048"/>
          </a:xfrm>
          <a:prstGeom prst="rect">
            <a:avLst/>
          </a:prstGeom>
          <a:noFill/>
          <a:ln/>
        </p:spPr>
        <p:txBody>
          <a:bodyPr wrap="square" rtlCol="0" anchor="ctr"/>
          <a:lstStyle/>
          <a:p>
            <a:pPr marL="0" indent="0" algn="ctr">
              <a:buNone/>
            </a:pPr>
            <a:r>
              <a:rPr lang="en-US" sz="1100" b="1" dirty="0">
                <a:solidFill>
                  <a:srgbClr val="14322D"/>
                </a:solidFill>
                <a:latin typeface="Calibri" pitchFamily="34" charset="0"/>
                <a:ea typeface="Calibri" pitchFamily="34" charset="-122"/>
                <a:cs typeface="Calibri" pitchFamily="34" charset="-120"/>
              </a:rPr>
              <a:t>Overview</a:t>
            </a:r>
            <a:endParaRPr lang="en-US" sz="1100" dirty="0"/>
          </a:p>
        </p:txBody>
      </p:sp>
      <p:sp>
        <p:nvSpPr>
          <p:cNvPr id="6" name="Shape 4"/>
          <p:cNvSpPr/>
          <p:nvPr/>
        </p:nvSpPr>
        <p:spPr>
          <a:xfrm>
            <a:off x="2263140" y="1691640"/>
            <a:ext cx="1440180" cy="384048"/>
          </a:xfrm>
          <a:prstGeom prst="roundRect">
            <a:avLst>
              <a:gd name="adj" fmla="val 19048"/>
            </a:avLst>
          </a:prstGeom>
          <a:solidFill>
            <a:srgbClr val="E1EAE6"/>
          </a:solidFill>
          <a:ln/>
        </p:spPr>
        <p:txBody>
          <a:bodyPr/>
          <a:lstStyle/>
          <a:p>
            <a:endParaRPr lang="en-US"/>
          </a:p>
        </p:txBody>
      </p:sp>
      <p:sp>
        <p:nvSpPr>
          <p:cNvPr id="7" name="Text 5"/>
          <p:cNvSpPr/>
          <p:nvPr/>
        </p:nvSpPr>
        <p:spPr>
          <a:xfrm>
            <a:off x="2336292" y="1691640"/>
            <a:ext cx="1293876" cy="384048"/>
          </a:xfrm>
          <a:prstGeom prst="rect">
            <a:avLst/>
          </a:prstGeom>
          <a:noFill/>
          <a:ln/>
        </p:spPr>
        <p:txBody>
          <a:bodyPr wrap="square" rtlCol="0" anchor="ctr"/>
          <a:lstStyle/>
          <a:p>
            <a:pPr marL="0" indent="0" algn="ctr">
              <a:buNone/>
            </a:pPr>
            <a:r>
              <a:rPr lang="en-US" sz="1100" b="1" dirty="0">
                <a:solidFill>
                  <a:srgbClr val="14322D"/>
                </a:solidFill>
                <a:latin typeface="Calibri" pitchFamily="34" charset="0"/>
                <a:ea typeface="Calibri" pitchFamily="34" charset="-122"/>
                <a:cs typeface="Calibri" pitchFamily="34" charset="-120"/>
              </a:rPr>
              <a:t>Personas</a:t>
            </a:r>
            <a:endParaRPr lang="en-US" sz="1100" dirty="0"/>
          </a:p>
        </p:txBody>
      </p:sp>
      <p:sp>
        <p:nvSpPr>
          <p:cNvPr id="8" name="Shape 6"/>
          <p:cNvSpPr/>
          <p:nvPr/>
        </p:nvSpPr>
        <p:spPr>
          <a:xfrm>
            <a:off x="3794760" y="1691640"/>
            <a:ext cx="1440180" cy="384048"/>
          </a:xfrm>
          <a:prstGeom prst="roundRect">
            <a:avLst>
              <a:gd name="adj" fmla="val 19048"/>
            </a:avLst>
          </a:prstGeom>
          <a:solidFill>
            <a:srgbClr val="E1EAE6"/>
          </a:solidFill>
          <a:ln/>
        </p:spPr>
        <p:txBody>
          <a:bodyPr/>
          <a:lstStyle/>
          <a:p>
            <a:endParaRPr lang="en-US"/>
          </a:p>
        </p:txBody>
      </p:sp>
      <p:sp>
        <p:nvSpPr>
          <p:cNvPr id="9" name="Text 7"/>
          <p:cNvSpPr/>
          <p:nvPr/>
        </p:nvSpPr>
        <p:spPr>
          <a:xfrm>
            <a:off x="3867912" y="1691640"/>
            <a:ext cx="1293876" cy="384048"/>
          </a:xfrm>
          <a:prstGeom prst="rect">
            <a:avLst/>
          </a:prstGeom>
          <a:noFill/>
          <a:ln/>
        </p:spPr>
        <p:txBody>
          <a:bodyPr wrap="square" rtlCol="0" anchor="ctr"/>
          <a:lstStyle/>
          <a:p>
            <a:pPr marL="0" indent="0" algn="ctr">
              <a:buNone/>
            </a:pPr>
            <a:r>
              <a:rPr lang="en-US" sz="1100" b="1" dirty="0">
                <a:solidFill>
                  <a:srgbClr val="14322D"/>
                </a:solidFill>
                <a:latin typeface="Calibri" pitchFamily="34" charset="0"/>
                <a:ea typeface="Calibri" pitchFamily="34" charset="-122"/>
                <a:cs typeface="Calibri" pitchFamily="34" charset="-120"/>
              </a:rPr>
              <a:t>Journey</a:t>
            </a:r>
            <a:endParaRPr lang="en-US" sz="1100" dirty="0"/>
          </a:p>
        </p:txBody>
      </p:sp>
      <p:sp>
        <p:nvSpPr>
          <p:cNvPr id="10" name="Shape 8"/>
          <p:cNvSpPr/>
          <p:nvPr/>
        </p:nvSpPr>
        <p:spPr>
          <a:xfrm>
            <a:off x="5326380" y="1691640"/>
            <a:ext cx="1440180" cy="384048"/>
          </a:xfrm>
          <a:prstGeom prst="roundRect">
            <a:avLst>
              <a:gd name="adj" fmla="val 19048"/>
            </a:avLst>
          </a:prstGeom>
          <a:solidFill>
            <a:srgbClr val="E1EAE6"/>
          </a:solidFill>
          <a:ln/>
        </p:spPr>
        <p:txBody>
          <a:bodyPr/>
          <a:lstStyle/>
          <a:p>
            <a:endParaRPr lang="en-US"/>
          </a:p>
        </p:txBody>
      </p:sp>
      <p:sp>
        <p:nvSpPr>
          <p:cNvPr id="11" name="Text 9"/>
          <p:cNvSpPr/>
          <p:nvPr/>
        </p:nvSpPr>
        <p:spPr>
          <a:xfrm>
            <a:off x="5399532" y="1691640"/>
            <a:ext cx="1293876" cy="384048"/>
          </a:xfrm>
          <a:prstGeom prst="rect">
            <a:avLst/>
          </a:prstGeom>
          <a:noFill/>
          <a:ln/>
        </p:spPr>
        <p:txBody>
          <a:bodyPr wrap="square" rtlCol="0" anchor="ctr"/>
          <a:lstStyle/>
          <a:p>
            <a:pPr marL="0" indent="0" algn="ctr">
              <a:buNone/>
            </a:pPr>
            <a:r>
              <a:rPr lang="en-US" sz="1100" b="1" dirty="0">
                <a:solidFill>
                  <a:srgbClr val="14322D"/>
                </a:solidFill>
                <a:latin typeface="Calibri" pitchFamily="34" charset="0"/>
                <a:ea typeface="Calibri" pitchFamily="34" charset="-122"/>
                <a:cs typeface="Calibri" pitchFamily="34" charset="-120"/>
              </a:rPr>
              <a:t>Requirements</a:t>
            </a:r>
            <a:endParaRPr lang="en-US" sz="1100" dirty="0"/>
          </a:p>
        </p:txBody>
      </p:sp>
      <p:sp>
        <p:nvSpPr>
          <p:cNvPr id="12" name="Shape 10"/>
          <p:cNvSpPr/>
          <p:nvPr/>
        </p:nvSpPr>
        <p:spPr>
          <a:xfrm>
            <a:off x="731520" y="2148840"/>
            <a:ext cx="1950720" cy="384048"/>
          </a:xfrm>
          <a:prstGeom prst="roundRect">
            <a:avLst>
              <a:gd name="adj" fmla="val 19048"/>
            </a:avLst>
          </a:prstGeom>
          <a:solidFill>
            <a:srgbClr val="E1EAE6"/>
          </a:solidFill>
          <a:ln/>
        </p:spPr>
        <p:txBody>
          <a:bodyPr/>
          <a:lstStyle/>
          <a:p>
            <a:endParaRPr lang="en-US"/>
          </a:p>
        </p:txBody>
      </p:sp>
      <p:sp>
        <p:nvSpPr>
          <p:cNvPr id="13" name="Text 11"/>
          <p:cNvSpPr/>
          <p:nvPr/>
        </p:nvSpPr>
        <p:spPr>
          <a:xfrm>
            <a:off x="804672" y="2148840"/>
            <a:ext cx="1804416" cy="384048"/>
          </a:xfrm>
          <a:prstGeom prst="rect">
            <a:avLst/>
          </a:prstGeom>
          <a:noFill/>
          <a:ln/>
        </p:spPr>
        <p:txBody>
          <a:bodyPr wrap="square" rtlCol="0" anchor="ctr"/>
          <a:lstStyle/>
          <a:p>
            <a:pPr marL="0" indent="0" algn="ctr">
              <a:buNone/>
            </a:pPr>
            <a:r>
              <a:rPr lang="en-US" sz="1100" b="1" dirty="0">
                <a:solidFill>
                  <a:srgbClr val="14322D"/>
                </a:solidFill>
                <a:latin typeface="Calibri" pitchFamily="34" charset="0"/>
                <a:ea typeface="Calibri" pitchFamily="34" charset="-122"/>
                <a:cs typeface="Calibri" pitchFamily="34" charset="-120"/>
              </a:rPr>
              <a:t>Safety guidance</a:t>
            </a:r>
            <a:endParaRPr lang="en-US" sz="1100" dirty="0"/>
          </a:p>
        </p:txBody>
      </p:sp>
      <p:sp>
        <p:nvSpPr>
          <p:cNvPr id="14" name="Shape 12"/>
          <p:cNvSpPr/>
          <p:nvPr/>
        </p:nvSpPr>
        <p:spPr>
          <a:xfrm>
            <a:off x="2773680" y="2148840"/>
            <a:ext cx="1950720" cy="384048"/>
          </a:xfrm>
          <a:prstGeom prst="roundRect">
            <a:avLst>
              <a:gd name="adj" fmla="val 19048"/>
            </a:avLst>
          </a:prstGeom>
          <a:solidFill>
            <a:srgbClr val="E1EAE6"/>
          </a:solidFill>
          <a:ln/>
        </p:spPr>
        <p:txBody>
          <a:bodyPr/>
          <a:lstStyle/>
          <a:p>
            <a:endParaRPr lang="en-US"/>
          </a:p>
        </p:txBody>
      </p:sp>
      <p:sp>
        <p:nvSpPr>
          <p:cNvPr id="15" name="Text 13"/>
          <p:cNvSpPr/>
          <p:nvPr/>
        </p:nvSpPr>
        <p:spPr>
          <a:xfrm>
            <a:off x="2846832" y="2148840"/>
            <a:ext cx="1804416" cy="384048"/>
          </a:xfrm>
          <a:prstGeom prst="rect">
            <a:avLst/>
          </a:prstGeom>
          <a:noFill/>
          <a:ln/>
        </p:spPr>
        <p:txBody>
          <a:bodyPr wrap="square" rtlCol="0" anchor="ctr"/>
          <a:lstStyle/>
          <a:p>
            <a:pPr marL="0" indent="0" algn="ctr">
              <a:buNone/>
            </a:pPr>
            <a:r>
              <a:rPr lang="en-US" sz="1100" b="1" dirty="0">
                <a:solidFill>
                  <a:srgbClr val="14322D"/>
                </a:solidFill>
                <a:latin typeface="Calibri" pitchFamily="34" charset="0"/>
                <a:ea typeface="Calibri" pitchFamily="34" charset="-122"/>
                <a:cs typeface="Calibri" pitchFamily="34" charset="-120"/>
              </a:rPr>
              <a:t>Demo data</a:t>
            </a:r>
            <a:endParaRPr lang="en-US" sz="1100" dirty="0"/>
          </a:p>
        </p:txBody>
      </p:sp>
      <p:sp>
        <p:nvSpPr>
          <p:cNvPr id="16" name="Shape 14"/>
          <p:cNvSpPr/>
          <p:nvPr/>
        </p:nvSpPr>
        <p:spPr>
          <a:xfrm>
            <a:off x="4815840" y="2148840"/>
            <a:ext cx="1950720" cy="384048"/>
          </a:xfrm>
          <a:prstGeom prst="roundRect">
            <a:avLst>
              <a:gd name="adj" fmla="val 19048"/>
            </a:avLst>
          </a:prstGeom>
          <a:solidFill>
            <a:srgbClr val="E1EAE6"/>
          </a:solidFill>
          <a:ln/>
        </p:spPr>
        <p:txBody>
          <a:bodyPr/>
          <a:lstStyle/>
          <a:p>
            <a:endParaRPr lang="en-US"/>
          </a:p>
        </p:txBody>
      </p:sp>
      <p:sp>
        <p:nvSpPr>
          <p:cNvPr id="17" name="Text 15"/>
          <p:cNvSpPr/>
          <p:nvPr/>
        </p:nvSpPr>
        <p:spPr>
          <a:xfrm>
            <a:off x="4888992" y="2148840"/>
            <a:ext cx="1804416" cy="384048"/>
          </a:xfrm>
          <a:prstGeom prst="rect">
            <a:avLst/>
          </a:prstGeom>
          <a:noFill/>
          <a:ln/>
        </p:spPr>
        <p:txBody>
          <a:bodyPr wrap="square" rtlCol="0" anchor="ctr"/>
          <a:lstStyle/>
          <a:p>
            <a:pPr marL="0" indent="0" algn="ctr">
              <a:buNone/>
            </a:pPr>
            <a:r>
              <a:rPr lang="en-US" sz="1100" b="1" dirty="0">
                <a:solidFill>
                  <a:srgbClr val="14322D"/>
                </a:solidFill>
                <a:latin typeface="Calibri" pitchFamily="34" charset="0"/>
                <a:ea typeface="Calibri" pitchFamily="34" charset="-122"/>
                <a:cs typeface="Calibri" pitchFamily="34" charset="-120"/>
              </a:rPr>
              <a:t>Acceptance criteria</a:t>
            </a:r>
            <a:endParaRPr lang="en-US" sz="1100" dirty="0"/>
          </a:p>
        </p:txBody>
      </p:sp>
      <p:pic>
        <p:nvPicPr>
          <p:cNvPr id="18" name="Image 0" descr="/home/claude/deck/assets/icons/arrowright-pine.png"/>
          <p:cNvPicPr>
            <a:picLocks noChangeAspect="1"/>
          </p:cNvPicPr>
          <p:nvPr/>
        </p:nvPicPr>
        <p:blipFill>
          <a:blip r:embed="rId3"/>
          <a:stretch>
            <a:fillRect/>
          </a:stretch>
        </p:blipFill>
        <p:spPr>
          <a:xfrm rot="5400000">
            <a:off x="3611880" y="2615184"/>
            <a:ext cx="274320" cy="274320"/>
          </a:xfrm>
          <a:prstGeom prst="rect">
            <a:avLst/>
          </a:prstGeom>
        </p:spPr>
      </p:pic>
      <p:sp>
        <p:nvSpPr>
          <p:cNvPr id="19" name="Shape 16"/>
          <p:cNvSpPr/>
          <p:nvPr/>
        </p:nvSpPr>
        <p:spPr>
          <a:xfrm>
            <a:off x="731520" y="2962656"/>
            <a:ext cx="6035040" cy="502920"/>
          </a:xfrm>
          <a:prstGeom prst="roundRect">
            <a:avLst>
              <a:gd name="adj" fmla="val 14545"/>
            </a:avLst>
          </a:prstGeom>
          <a:solidFill>
            <a:srgbClr val="1F4741"/>
          </a:solidFill>
          <a:ln/>
        </p:spPr>
        <p:txBody>
          <a:bodyPr/>
          <a:lstStyle/>
          <a:p>
            <a:endParaRPr lang="en-US"/>
          </a:p>
        </p:txBody>
      </p:sp>
      <p:sp>
        <p:nvSpPr>
          <p:cNvPr id="20" name="Text 17"/>
          <p:cNvSpPr/>
          <p:nvPr/>
        </p:nvSpPr>
        <p:spPr>
          <a:xfrm>
            <a:off x="731520" y="2962656"/>
            <a:ext cx="6035040" cy="502920"/>
          </a:xfrm>
          <a:prstGeom prst="rect">
            <a:avLst/>
          </a:prstGeom>
          <a:noFill/>
          <a:ln/>
        </p:spPr>
        <p:txBody>
          <a:bodyPr wrap="square" rtlCol="0" anchor="ctr"/>
          <a:lstStyle/>
          <a:p>
            <a:pPr marL="0" indent="0" algn="ctr">
              <a:buNone/>
            </a:pPr>
            <a:r>
              <a:rPr lang="en-US" sz="1300" b="1" kern="0" spc="50" dirty="0">
                <a:solidFill>
                  <a:srgbClr val="FFFFFF"/>
                </a:solidFill>
                <a:latin typeface="Calibri" pitchFamily="34" charset="0"/>
                <a:ea typeface="Calibri" pitchFamily="34" charset="-122"/>
                <a:cs typeface="Calibri" pitchFamily="34" charset="-120"/>
              </a:rPr>
              <a:t>PROJECT CONTEXT  —  shared across conversations</a:t>
            </a:r>
            <a:endParaRPr lang="en-US" sz="1300" dirty="0"/>
          </a:p>
        </p:txBody>
      </p:sp>
      <p:pic>
        <p:nvPicPr>
          <p:cNvPr id="21" name="Image 1" descr="/home/claude/deck/assets/icons/arrowright-pine.png"/>
          <p:cNvPicPr>
            <a:picLocks noChangeAspect="1"/>
          </p:cNvPicPr>
          <p:nvPr/>
        </p:nvPicPr>
        <p:blipFill>
          <a:blip r:embed="rId3"/>
          <a:stretch>
            <a:fillRect/>
          </a:stretch>
        </p:blipFill>
        <p:spPr>
          <a:xfrm rot="5400000">
            <a:off x="3611880" y="3566160"/>
            <a:ext cx="274320" cy="274320"/>
          </a:xfrm>
          <a:prstGeom prst="rect">
            <a:avLst/>
          </a:prstGeom>
        </p:spPr>
      </p:pic>
      <p:sp>
        <p:nvSpPr>
          <p:cNvPr id="22" name="Text 18"/>
          <p:cNvSpPr/>
          <p:nvPr/>
        </p:nvSpPr>
        <p:spPr>
          <a:xfrm>
            <a:off x="731520" y="3913632"/>
            <a:ext cx="6035040" cy="274320"/>
          </a:xfrm>
          <a:prstGeom prst="rect">
            <a:avLst/>
          </a:prstGeom>
          <a:noFill/>
          <a:ln/>
        </p:spPr>
        <p:txBody>
          <a:bodyPr wrap="square" rtlCol="0" anchor="ctr"/>
          <a:lstStyle/>
          <a:p>
            <a:pPr marL="0" indent="0">
              <a:buNone/>
            </a:pPr>
            <a:r>
              <a:rPr lang="en-US" sz="1200" b="1" kern="0" spc="100" dirty="0">
                <a:solidFill>
                  <a:srgbClr val="14322D"/>
                </a:solidFill>
                <a:latin typeface="Calibri" pitchFamily="34" charset="0"/>
                <a:ea typeface="Calibri" pitchFamily="34" charset="-122"/>
                <a:cs typeface="Calibri" pitchFamily="34" charset="-120"/>
              </a:rPr>
              <a:t>ARTIFACT — JOURNEY EXPLORER</a:t>
            </a:r>
            <a:endParaRPr lang="en-US" sz="1200" dirty="0"/>
          </a:p>
        </p:txBody>
      </p:sp>
      <p:sp>
        <p:nvSpPr>
          <p:cNvPr id="23" name="Shape 19"/>
          <p:cNvSpPr/>
          <p:nvPr/>
        </p:nvSpPr>
        <p:spPr>
          <a:xfrm>
            <a:off x="731520" y="4233672"/>
            <a:ext cx="1440180" cy="502920"/>
          </a:xfrm>
          <a:prstGeom prst="roundRect">
            <a:avLst>
              <a:gd name="adj" fmla="val 14545"/>
            </a:avLst>
          </a:prstGeom>
          <a:solidFill>
            <a:srgbClr val="B8862E"/>
          </a:solidFill>
          <a:ln/>
        </p:spPr>
        <p:txBody>
          <a:bodyPr/>
          <a:lstStyle/>
          <a:p>
            <a:endParaRPr lang="en-US"/>
          </a:p>
        </p:txBody>
      </p:sp>
      <p:sp>
        <p:nvSpPr>
          <p:cNvPr id="24" name="Text 20"/>
          <p:cNvSpPr/>
          <p:nvPr/>
        </p:nvSpPr>
        <p:spPr>
          <a:xfrm>
            <a:off x="804672" y="4233672"/>
            <a:ext cx="1293876"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Journey Explorer</a:t>
            </a:r>
            <a:endParaRPr lang="en-US" sz="1050" dirty="0"/>
          </a:p>
        </p:txBody>
      </p:sp>
      <p:sp>
        <p:nvSpPr>
          <p:cNvPr id="25" name="Shape 21"/>
          <p:cNvSpPr/>
          <p:nvPr/>
        </p:nvSpPr>
        <p:spPr>
          <a:xfrm>
            <a:off x="2263140" y="4233672"/>
            <a:ext cx="1440180" cy="502920"/>
          </a:xfrm>
          <a:prstGeom prst="roundRect">
            <a:avLst>
              <a:gd name="adj" fmla="val 14545"/>
            </a:avLst>
          </a:prstGeom>
          <a:solidFill>
            <a:srgbClr val="B8862E"/>
          </a:solidFill>
          <a:ln/>
        </p:spPr>
        <p:txBody>
          <a:bodyPr/>
          <a:lstStyle/>
          <a:p>
            <a:endParaRPr lang="en-US"/>
          </a:p>
        </p:txBody>
      </p:sp>
      <p:sp>
        <p:nvSpPr>
          <p:cNvPr id="26" name="Text 22"/>
          <p:cNvSpPr/>
          <p:nvPr/>
        </p:nvSpPr>
        <p:spPr>
          <a:xfrm>
            <a:off x="2336292" y="4233672"/>
            <a:ext cx="1293876"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Home-care interactions</a:t>
            </a:r>
            <a:endParaRPr lang="en-US" sz="1050" dirty="0"/>
          </a:p>
        </p:txBody>
      </p:sp>
      <p:sp>
        <p:nvSpPr>
          <p:cNvPr id="27" name="Shape 23"/>
          <p:cNvSpPr/>
          <p:nvPr/>
        </p:nvSpPr>
        <p:spPr>
          <a:xfrm>
            <a:off x="3794760" y="4233672"/>
            <a:ext cx="1440180" cy="502920"/>
          </a:xfrm>
          <a:prstGeom prst="roundRect">
            <a:avLst>
              <a:gd name="adj" fmla="val 14545"/>
            </a:avLst>
          </a:prstGeom>
          <a:solidFill>
            <a:srgbClr val="B8862E"/>
          </a:solidFill>
          <a:ln/>
        </p:spPr>
        <p:txBody>
          <a:bodyPr/>
          <a:lstStyle/>
          <a:p>
            <a:endParaRPr lang="en-US"/>
          </a:p>
        </p:txBody>
      </p:sp>
      <p:sp>
        <p:nvSpPr>
          <p:cNvPr id="28" name="Text 24"/>
          <p:cNvSpPr/>
          <p:nvPr/>
        </p:nvSpPr>
        <p:spPr>
          <a:xfrm>
            <a:off x="3867912" y="4233672"/>
            <a:ext cx="1293876"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Evidence view</a:t>
            </a:r>
            <a:endParaRPr lang="en-US" sz="1050" dirty="0"/>
          </a:p>
        </p:txBody>
      </p:sp>
      <p:sp>
        <p:nvSpPr>
          <p:cNvPr id="29" name="Shape 25"/>
          <p:cNvSpPr/>
          <p:nvPr/>
        </p:nvSpPr>
        <p:spPr>
          <a:xfrm>
            <a:off x="5326380" y="4233672"/>
            <a:ext cx="1440180" cy="502920"/>
          </a:xfrm>
          <a:prstGeom prst="roundRect">
            <a:avLst>
              <a:gd name="adj" fmla="val 14545"/>
            </a:avLst>
          </a:prstGeom>
          <a:solidFill>
            <a:srgbClr val="B8862E"/>
          </a:solidFill>
          <a:ln/>
        </p:spPr>
        <p:txBody>
          <a:bodyPr/>
          <a:lstStyle/>
          <a:p>
            <a:endParaRPr lang="en-US"/>
          </a:p>
        </p:txBody>
      </p:sp>
      <p:sp>
        <p:nvSpPr>
          <p:cNvPr id="30" name="Text 26"/>
          <p:cNvSpPr/>
          <p:nvPr/>
        </p:nvSpPr>
        <p:spPr>
          <a:xfrm>
            <a:off x="5399532" y="4233672"/>
            <a:ext cx="1293876"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QA coverage</a:t>
            </a:r>
            <a:endParaRPr lang="en-US" sz="1050" dirty="0"/>
          </a:p>
        </p:txBody>
      </p:sp>
      <p:sp>
        <p:nvSpPr>
          <p:cNvPr id="31" name="Text 27"/>
          <p:cNvSpPr/>
          <p:nvPr/>
        </p:nvSpPr>
        <p:spPr>
          <a:xfrm>
            <a:off x="7086600" y="1371600"/>
            <a:ext cx="4370832" cy="274320"/>
          </a:xfrm>
          <a:prstGeom prst="rect">
            <a:avLst/>
          </a:prstGeom>
          <a:noFill/>
          <a:ln/>
        </p:spPr>
        <p:txBody>
          <a:bodyPr wrap="square" rtlCol="0" anchor="ctr"/>
          <a:lstStyle/>
          <a:p>
            <a:pPr marL="0" indent="0">
              <a:buNone/>
            </a:pPr>
            <a:r>
              <a:rPr lang="en-US" sz="1200" b="1" kern="0" spc="100" dirty="0">
                <a:solidFill>
                  <a:srgbClr val="14322D"/>
                </a:solidFill>
                <a:latin typeface="Calibri" pitchFamily="34" charset="0"/>
                <a:ea typeface="Calibri" pitchFamily="34" charset="-122"/>
                <a:cs typeface="Calibri" pitchFamily="34" charset="-120"/>
              </a:rPr>
              <a:t>SUGGESTED TALKING POINTS</a:t>
            </a:r>
            <a:endParaRPr lang="en-US" sz="1200" dirty="0"/>
          </a:p>
        </p:txBody>
      </p:sp>
      <p:sp>
        <p:nvSpPr>
          <p:cNvPr id="32" name="Shape 28"/>
          <p:cNvSpPr/>
          <p:nvPr/>
        </p:nvSpPr>
        <p:spPr>
          <a:xfrm>
            <a:off x="7086600" y="1737360"/>
            <a:ext cx="347472" cy="347472"/>
          </a:xfrm>
          <a:prstGeom prst="ellipse">
            <a:avLst/>
          </a:prstGeom>
          <a:solidFill>
            <a:srgbClr val="1F4741"/>
          </a:solidFill>
          <a:ln/>
        </p:spPr>
        <p:txBody>
          <a:bodyPr/>
          <a:lstStyle/>
          <a:p>
            <a:endParaRPr lang="en-US"/>
          </a:p>
        </p:txBody>
      </p:sp>
      <p:pic>
        <p:nvPicPr>
          <p:cNvPr id="33" name="Image 2" descr="/home/claude/deck/assets/icons/checksquare-white.png"/>
          <p:cNvPicPr>
            <a:picLocks noChangeAspect="1"/>
          </p:cNvPicPr>
          <p:nvPr/>
        </p:nvPicPr>
        <p:blipFill>
          <a:blip r:embed="rId4"/>
          <a:stretch>
            <a:fillRect/>
          </a:stretch>
        </p:blipFill>
        <p:spPr>
          <a:xfrm>
            <a:off x="7169993" y="1820753"/>
            <a:ext cx="180685" cy="180685"/>
          </a:xfrm>
          <a:prstGeom prst="rect">
            <a:avLst/>
          </a:prstGeom>
        </p:spPr>
      </p:pic>
      <p:sp>
        <p:nvSpPr>
          <p:cNvPr id="34" name="Text 29"/>
          <p:cNvSpPr/>
          <p:nvPr/>
        </p:nvSpPr>
        <p:spPr>
          <a:xfrm>
            <a:off x="7589520" y="1682496"/>
            <a:ext cx="3867912" cy="566928"/>
          </a:xfrm>
          <a:prstGeom prst="rect">
            <a:avLst/>
          </a:prstGeom>
          <a:noFill/>
          <a:ln/>
        </p:spPr>
        <p:txBody>
          <a:bodyPr wrap="square" rtlCol="0" anchor="ctr"/>
          <a:lstStyle/>
          <a:p>
            <a:pPr marL="0" indent="0">
              <a:buNone/>
            </a:pPr>
            <a:r>
              <a:rPr lang="en-US" sz="1300" dirty="0">
                <a:solidFill>
                  <a:srgbClr val="1B2624"/>
                </a:solidFill>
                <a:latin typeface="Calibri" pitchFamily="34" charset="0"/>
                <a:ea typeface="Calibri" pitchFamily="34" charset="-122"/>
                <a:cs typeface="Calibri" pitchFamily="34" charset="-120"/>
              </a:rPr>
              <a:t>One Project supported multiple roles.</a:t>
            </a:r>
            <a:endParaRPr lang="en-US" sz="1300" dirty="0"/>
          </a:p>
        </p:txBody>
      </p:sp>
      <p:sp>
        <p:nvSpPr>
          <p:cNvPr id="35" name="Shape 30"/>
          <p:cNvSpPr/>
          <p:nvPr/>
        </p:nvSpPr>
        <p:spPr>
          <a:xfrm>
            <a:off x="7086600" y="2487168"/>
            <a:ext cx="347472" cy="347472"/>
          </a:xfrm>
          <a:prstGeom prst="ellipse">
            <a:avLst/>
          </a:prstGeom>
          <a:solidFill>
            <a:srgbClr val="1F4741"/>
          </a:solidFill>
          <a:ln/>
        </p:spPr>
        <p:txBody>
          <a:bodyPr/>
          <a:lstStyle/>
          <a:p>
            <a:endParaRPr lang="en-US"/>
          </a:p>
        </p:txBody>
      </p:sp>
      <p:pic>
        <p:nvPicPr>
          <p:cNvPr id="36" name="Image 3" descr="/home/claude/deck/assets/icons/checksquare-white.png"/>
          <p:cNvPicPr>
            <a:picLocks noChangeAspect="1"/>
          </p:cNvPicPr>
          <p:nvPr/>
        </p:nvPicPr>
        <p:blipFill>
          <a:blip r:embed="rId4"/>
          <a:stretch>
            <a:fillRect/>
          </a:stretch>
        </p:blipFill>
        <p:spPr>
          <a:xfrm>
            <a:off x="7169993" y="2570561"/>
            <a:ext cx="180685" cy="180685"/>
          </a:xfrm>
          <a:prstGeom prst="rect">
            <a:avLst/>
          </a:prstGeom>
        </p:spPr>
      </p:pic>
      <p:sp>
        <p:nvSpPr>
          <p:cNvPr id="37" name="Text 31"/>
          <p:cNvSpPr/>
          <p:nvPr/>
        </p:nvSpPr>
        <p:spPr>
          <a:xfrm>
            <a:off x="7589520" y="2432304"/>
            <a:ext cx="3867912" cy="566928"/>
          </a:xfrm>
          <a:prstGeom prst="rect">
            <a:avLst/>
          </a:prstGeom>
          <a:noFill/>
          <a:ln/>
        </p:spPr>
        <p:txBody>
          <a:bodyPr wrap="square" rtlCol="0" anchor="ctr"/>
          <a:lstStyle/>
          <a:p>
            <a:pPr marL="0" indent="0">
              <a:buNone/>
            </a:pPr>
            <a:r>
              <a:rPr lang="en-US" sz="1300" dirty="0">
                <a:solidFill>
                  <a:srgbClr val="1B2624"/>
                </a:solidFill>
                <a:latin typeface="Calibri" pitchFamily="34" charset="0"/>
                <a:ea typeface="Calibri" pitchFamily="34" charset="-122"/>
                <a:cs typeface="Calibri" pitchFamily="34" charset="-120"/>
              </a:rPr>
              <a:t>The Artifact reused existing identifiers and acceptance criteria.</a:t>
            </a:r>
            <a:endParaRPr lang="en-US" sz="1300" dirty="0"/>
          </a:p>
        </p:txBody>
      </p:sp>
      <p:sp>
        <p:nvSpPr>
          <p:cNvPr id="38" name="Shape 32"/>
          <p:cNvSpPr/>
          <p:nvPr/>
        </p:nvSpPr>
        <p:spPr>
          <a:xfrm>
            <a:off x="7086600" y="3236976"/>
            <a:ext cx="347472" cy="347472"/>
          </a:xfrm>
          <a:prstGeom prst="ellipse">
            <a:avLst/>
          </a:prstGeom>
          <a:solidFill>
            <a:srgbClr val="1F4741"/>
          </a:solidFill>
          <a:ln/>
        </p:spPr>
        <p:txBody>
          <a:bodyPr/>
          <a:lstStyle/>
          <a:p>
            <a:endParaRPr lang="en-US"/>
          </a:p>
        </p:txBody>
      </p:sp>
      <p:pic>
        <p:nvPicPr>
          <p:cNvPr id="39" name="Image 4" descr="/home/claude/deck/assets/icons/checksquare-white.png"/>
          <p:cNvPicPr>
            <a:picLocks noChangeAspect="1"/>
          </p:cNvPicPr>
          <p:nvPr/>
        </p:nvPicPr>
        <p:blipFill>
          <a:blip r:embed="rId4"/>
          <a:stretch>
            <a:fillRect/>
          </a:stretch>
        </p:blipFill>
        <p:spPr>
          <a:xfrm>
            <a:off x="7169993" y="3320369"/>
            <a:ext cx="180685" cy="180685"/>
          </a:xfrm>
          <a:prstGeom prst="rect">
            <a:avLst/>
          </a:prstGeom>
        </p:spPr>
      </p:pic>
      <p:sp>
        <p:nvSpPr>
          <p:cNvPr id="40" name="Text 33"/>
          <p:cNvSpPr/>
          <p:nvPr/>
        </p:nvSpPr>
        <p:spPr>
          <a:xfrm>
            <a:off x="7589520" y="3182112"/>
            <a:ext cx="3867912" cy="566928"/>
          </a:xfrm>
          <a:prstGeom prst="rect">
            <a:avLst/>
          </a:prstGeom>
          <a:noFill/>
          <a:ln/>
        </p:spPr>
        <p:txBody>
          <a:bodyPr wrap="square" rtlCol="0" anchor="ctr"/>
          <a:lstStyle/>
          <a:p>
            <a:pPr marL="0" indent="0">
              <a:buNone/>
            </a:pPr>
            <a:r>
              <a:rPr lang="en-US" sz="1300" dirty="0">
                <a:solidFill>
                  <a:srgbClr val="1B2624"/>
                </a:solidFill>
                <a:latin typeface="Calibri" pitchFamily="34" charset="0"/>
                <a:ea typeface="Calibri" pitchFamily="34" charset="-122"/>
                <a:cs typeface="Calibri" pitchFamily="34" charset="-120"/>
              </a:rPr>
              <a:t>Product and safety constraints remained available during iteration.</a:t>
            </a:r>
            <a:endParaRPr lang="en-US" sz="1300" dirty="0"/>
          </a:p>
        </p:txBody>
      </p:sp>
      <p:sp>
        <p:nvSpPr>
          <p:cNvPr id="41" name="Shape 34"/>
          <p:cNvSpPr/>
          <p:nvPr/>
        </p:nvSpPr>
        <p:spPr>
          <a:xfrm>
            <a:off x="7086600" y="3986784"/>
            <a:ext cx="347472" cy="347472"/>
          </a:xfrm>
          <a:prstGeom prst="ellipse">
            <a:avLst/>
          </a:prstGeom>
          <a:solidFill>
            <a:srgbClr val="1F4741"/>
          </a:solidFill>
          <a:ln/>
        </p:spPr>
        <p:txBody>
          <a:bodyPr/>
          <a:lstStyle/>
          <a:p>
            <a:endParaRPr lang="en-US"/>
          </a:p>
        </p:txBody>
      </p:sp>
      <p:pic>
        <p:nvPicPr>
          <p:cNvPr id="42" name="Image 5" descr="/home/claude/deck/assets/icons/checksquare-white.png"/>
          <p:cNvPicPr>
            <a:picLocks noChangeAspect="1"/>
          </p:cNvPicPr>
          <p:nvPr/>
        </p:nvPicPr>
        <p:blipFill>
          <a:blip r:embed="rId4"/>
          <a:stretch>
            <a:fillRect/>
          </a:stretch>
        </p:blipFill>
        <p:spPr>
          <a:xfrm>
            <a:off x="7169993" y="4070177"/>
            <a:ext cx="180685" cy="180685"/>
          </a:xfrm>
          <a:prstGeom prst="rect">
            <a:avLst/>
          </a:prstGeom>
        </p:spPr>
      </p:pic>
      <p:sp>
        <p:nvSpPr>
          <p:cNvPr id="43" name="Text 35"/>
          <p:cNvSpPr/>
          <p:nvPr/>
        </p:nvSpPr>
        <p:spPr>
          <a:xfrm>
            <a:off x="7589520" y="3931920"/>
            <a:ext cx="3867912" cy="566928"/>
          </a:xfrm>
          <a:prstGeom prst="rect">
            <a:avLst/>
          </a:prstGeom>
          <a:noFill/>
          <a:ln/>
        </p:spPr>
        <p:txBody>
          <a:bodyPr wrap="square" rtlCol="0" anchor="ctr"/>
          <a:lstStyle/>
          <a:p>
            <a:pPr marL="0" indent="0">
              <a:buNone/>
            </a:pPr>
            <a:r>
              <a:rPr lang="en-US" sz="1300" dirty="0">
                <a:solidFill>
                  <a:srgbClr val="1B2624"/>
                </a:solidFill>
                <a:latin typeface="Calibri" pitchFamily="34" charset="0"/>
                <a:ea typeface="Calibri" pitchFamily="34" charset="-122"/>
                <a:cs typeface="Calibri" pitchFamily="34" charset="-120"/>
              </a:rPr>
              <a:t>A new QA feature was added without recreating the product context.</a:t>
            </a:r>
            <a:endParaRPr lang="en-US" sz="1300" dirty="0"/>
          </a:p>
        </p:txBody>
      </p:sp>
      <p:sp>
        <p:nvSpPr>
          <p:cNvPr id="44" name="Shape 36"/>
          <p:cNvSpPr/>
          <p:nvPr/>
        </p:nvSpPr>
        <p:spPr>
          <a:xfrm>
            <a:off x="731520" y="5486400"/>
            <a:ext cx="10728655" cy="777240"/>
          </a:xfrm>
          <a:prstGeom prst="roundRect">
            <a:avLst>
              <a:gd name="adj" fmla="val 9412"/>
            </a:avLst>
          </a:prstGeom>
          <a:solidFill>
            <a:srgbClr val="E1EAE6"/>
          </a:solidFill>
          <a:ln/>
        </p:spPr>
        <p:txBody>
          <a:bodyPr/>
          <a:lstStyle/>
          <a:p>
            <a:endParaRPr lang="en-US"/>
          </a:p>
        </p:txBody>
      </p:sp>
      <p:sp>
        <p:nvSpPr>
          <p:cNvPr id="45" name="Text 37"/>
          <p:cNvSpPr/>
          <p:nvPr/>
        </p:nvSpPr>
        <p:spPr>
          <a:xfrm>
            <a:off x="1005840" y="5486400"/>
            <a:ext cx="10180015" cy="777240"/>
          </a:xfrm>
          <a:prstGeom prst="rect">
            <a:avLst/>
          </a:prstGeom>
          <a:noFill/>
          <a:ln/>
        </p:spPr>
        <p:txBody>
          <a:bodyPr wrap="square" rtlCol="0" anchor="ctr"/>
          <a:lstStyle/>
          <a:p>
            <a:pPr marL="0" indent="0" algn="ctr">
              <a:buNone/>
            </a:pPr>
            <a:r>
              <a:rPr lang="en-US" sz="1400" i="1" dirty="0">
                <a:solidFill>
                  <a:srgbClr val="14322D"/>
                </a:solidFill>
                <a:latin typeface="Calibri" pitchFamily="34" charset="0"/>
                <a:ea typeface="Calibri" pitchFamily="34" charset="-122"/>
                <a:cs typeface="Calibri" pitchFamily="34" charset="-120"/>
              </a:rPr>
              <a:t>The result is still a prototype, but it is a more durable prototype than a one-off chat response.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322D"/>
        </a:solidFill>
        <a:effectLst/>
      </p:bgPr>
    </p:bg>
    <p:spTree>
      <p:nvGrpSpPr>
        <p:cNvPr id="1" name=""/>
        <p:cNvGrpSpPr/>
        <p:nvPr/>
      </p:nvGrpSpPr>
      <p:grpSpPr>
        <a:xfrm>
          <a:off x="0" y="0"/>
          <a:ext cx="0" cy="0"/>
          <a:chOff x="0" y="0"/>
          <a:chExt cx="0" cy="0"/>
        </a:xfrm>
      </p:grpSpPr>
      <p:sp>
        <p:nvSpPr>
          <p:cNvPr id="2" name="Text 0"/>
          <p:cNvSpPr/>
          <p:nvPr/>
        </p:nvSpPr>
        <p:spPr>
          <a:xfrm>
            <a:off x="731520" y="457200"/>
            <a:ext cx="10728655" cy="68580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Which Claude Feature Should I Use?</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 y="1325880"/>
          <a:ext cx="10698480" cy="2514600"/>
        </p:xfrm>
        <a:graphic>
          <a:graphicData uri="http://schemas.openxmlformats.org/drawingml/2006/table">
            <a:tbl>
              <a:tblPr/>
              <a:tblGrid>
                <a:gridCol w="685800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tblGrid>
              <a:tr h="419100">
                <a:tc>
                  <a:txBody>
                    <a:bodyPr/>
                    <a:lstStyle/>
                    <a:p>
                      <a:pPr marL="0" indent="0" algn="l">
                        <a:buNone/>
                      </a:pPr>
                      <a:r>
                        <a:rPr lang="en-US" sz="1300" b="1" dirty="0">
                          <a:solidFill>
                            <a:srgbClr val="14322D"/>
                          </a:solidFill>
                        </a:rPr>
                        <a:t>Need</a:t>
                      </a:r>
                      <a:endParaRPr lang="en-US" sz="1300" dirty="0"/>
                    </a:p>
                  </a:txBody>
                  <a:tcPr anchor="ctr">
                    <a:lnL w="9525" cap="flat" cmpd="sng" algn="ctr">
                      <a:solidFill>
                        <a:srgbClr val="2E5C53"/>
                      </a:solidFill>
                      <a:prstDash val="solid"/>
                      <a:round/>
                      <a:headEnd type="none" w="med" len="med"/>
                      <a:tailEnd type="none" w="med" len="med"/>
                    </a:lnL>
                    <a:lnR w="9525" cap="flat" cmpd="sng" algn="ctr">
                      <a:solidFill>
                        <a:srgbClr val="2E5C53"/>
                      </a:solidFill>
                      <a:prstDash val="solid"/>
                      <a:round/>
                      <a:headEnd type="none" w="med" len="med"/>
                      <a:tailEnd type="none" w="med" len="med"/>
                    </a:lnR>
                    <a:lnT w="9525" cap="flat" cmpd="sng" algn="ctr">
                      <a:solidFill>
                        <a:srgbClr val="2E5C53"/>
                      </a:solidFill>
                      <a:prstDash val="solid"/>
                      <a:round/>
                      <a:headEnd type="none" w="med" len="med"/>
                      <a:tailEnd type="none" w="med" len="med"/>
                    </a:lnT>
                    <a:lnB w="9525" cap="flat" cmpd="sng" algn="ctr">
                      <a:solidFill>
                        <a:srgbClr val="2E5C53"/>
                      </a:solidFill>
                      <a:prstDash val="solid"/>
                      <a:round/>
                      <a:headEnd type="none" w="med" len="med"/>
                      <a:tailEnd type="none" w="med" len="med"/>
                    </a:lnB>
                    <a:solidFill>
                      <a:srgbClr val="B8862E"/>
                    </a:solidFill>
                  </a:tcPr>
                </a:tc>
                <a:tc>
                  <a:txBody>
                    <a:bodyPr/>
                    <a:lstStyle/>
                    <a:p>
                      <a:pPr marL="0" indent="0" algn="l">
                        <a:buNone/>
                      </a:pPr>
                      <a:r>
                        <a:rPr lang="en-US" sz="1300" b="1" dirty="0">
                          <a:solidFill>
                            <a:srgbClr val="14322D"/>
                          </a:solidFill>
                        </a:rPr>
                        <a:t>Best starting point</a:t>
                      </a:r>
                      <a:endParaRPr lang="en-US" sz="1300" dirty="0"/>
                    </a:p>
                  </a:txBody>
                  <a:tcPr anchor="ctr">
                    <a:lnL w="9525" cap="flat" cmpd="sng" algn="ctr">
                      <a:solidFill>
                        <a:srgbClr val="2E5C53"/>
                      </a:solidFill>
                      <a:prstDash val="solid"/>
                      <a:round/>
                      <a:headEnd type="none" w="med" len="med"/>
                      <a:tailEnd type="none" w="med" len="med"/>
                    </a:lnL>
                    <a:lnR w="9525" cap="flat" cmpd="sng" algn="ctr">
                      <a:solidFill>
                        <a:srgbClr val="2E5C53"/>
                      </a:solidFill>
                      <a:prstDash val="solid"/>
                      <a:round/>
                      <a:headEnd type="none" w="med" len="med"/>
                      <a:tailEnd type="none" w="med" len="med"/>
                    </a:lnR>
                    <a:lnT w="9525" cap="flat" cmpd="sng" algn="ctr">
                      <a:solidFill>
                        <a:srgbClr val="2E5C53"/>
                      </a:solidFill>
                      <a:prstDash val="solid"/>
                      <a:round/>
                      <a:headEnd type="none" w="med" len="med"/>
                      <a:tailEnd type="none" w="med" len="med"/>
                    </a:lnT>
                    <a:lnB w="9525" cap="flat" cmpd="sng" algn="ctr">
                      <a:solidFill>
                        <a:srgbClr val="2E5C53"/>
                      </a:solidFill>
                      <a:prstDash val="solid"/>
                      <a:round/>
                      <a:headEnd type="none" w="med" len="med"/>
                      <a:tailEnd type="none" w="med" len="med"/>
                    </a:lnB>
                    <a:solidFill>
                      <a:srgbClr val="B8862E"/>
                    </a:solidFill>
                  </a:tcPr>
                </a:tc>
                <a:extLst>
                  <a:ext uri="{0D108BD9-81ED-4DB2-BD59-A6C34878D82A}">
                    <a16:rowId xmlns:a16="http://schemas.microsoft.com/office/drawing/2014/main" val="10000"/>
                  </a:ext>
                </a:extLst>
              </a:tr>
              <a:tr h="419100">
                <a:tc>
                  <a:txBody>
                    <a:bodyPr/>
                    <a:lstStyle/>
                    <a:p>
                      <a:pPr marL="0" indent="0" algn="l">
                        <a:buNone/>
                      </a:pPr>
                      <a:r>
                        <a:rPr lang="en-US" sz="1350" dirty="0">
                          <a:solidFill>
                            <a:srgbClr val="FFFFFF"/>
                          </a:solidFill>
                        </a:rPr>
                        <a:t>One question or short task</a:t>
                      </a:r>
                      <a:endParaRPr lang="en-US" sz="1350" dirty="0"/>
                    </a:p>
                  </a:txBody>
                  <a:tcPr anchor="ctr">
                    <a:lnL w="9525" cap="flat" cmpd="sng" algn="ctr">
                      <a:solidFill>
                        <a:srgbClr val="2E5C53"/>
                      </a:solidFill>
                      <a:prstDash val="solid"/>
                      <a:round/>
                      <a:headEnd type="none" w="med" len="med"/>
                      <a:tailEnd type="none" w="med" len="med"/>
                    </a:lnL>
                    <a:lnR w="9525" cap="flat" cmpd="sng" algn="ctr">
                      <a:solidFill>
                        <a:srgbClr val="2E5C53"/>
                      </a:solidFill>
                      <a:prstDash val="solid"/>
                      <a:round/>
                      <a:headEnd type="none" w="med" len="med"/>
                      <a:tailEnd type="none" w="med" len="med"/>
                    </a:lnR>
                    <a:lnT w="9525" cap="flat" cmpd="sng" algn="ctr">
                      <a:solidFill>
                        <a:srgbClr val="2E5C53"/>
                      </a:solidFill>
                      <a:prstDash val="solid"/>
                      <a:round/>
                      <a:headEnd type="none" w="med" len="med"/>
                      <a:tailEnd type="none" w="med" len="med"/>
                    </a:lnT>
                    <a:lnB w="9525" cap="flat" cmpd="sng" algn="ctr">
                      <a:solidFill>
                        <a:srgbClr val="2E5C53"/>
                      </a:solidFill>
                      <a:prstDash val="solid"/>
                      <a:round/>
                      <a:headEnd type="none" w="med" len="med"/>
                      <a:tailEnd type="none" w="med" len="med"/>
                    </a:lnB>
                    <a:solidFill>
                      <a:srgbClr val="1B4A43"/>
                    </a:solidFill>
                  </a:tcPr>
                </a:tc>
                <a:tc>
                  <a:txBody>
                    <a:bodyPr/>
                    <a:lstStyle/>
                    <a:p>
                      <a:pPr marL="0" indent="0" algn="l">
                        <a:buNone/>
                      </a:pPr>
                      <a:r>
                        <a:rPr lang="en-US" sz="1350" b="1" dirty="0">
                          <a:solidFill>
                            <a:srgbClr val="B8862E"/>
                          </a:solidFill>
                        </a:rPr>
                        <a:t>Normal chat</a:t>
                      </a:r>
                      <a:endParaRPr lang="en-US" sz="1350" dirty="0"/>
                    </a:p>
                  </a:txBody>
                  <a:tcPr anchor="ctr">
                    <a:lnL w="9525" cap="flat" cmpd="sng" algn="ctr">
                      <a:solidFill>
                        <a:srgbClr val="2E5C53"/>
                      </a:solidFill>
                      <a:prstDash val="solid"/>
                      <a:round/>
                      <a:headEnd type="none" w="med" len="med"/>
                      <a:tailEnd type="none" w="med" len="med"/>
                    </a:lnL>
                    <a:lnR w="9525" cap="flat" cmpd="sng" algn="ctr">
                      <a:solidFill>
                        <a:srgbClr val="2E5C53"/>
                      </a:solidFill>
                      <a:prstDash val="solid"/>
                      <a:round/>
                      <a:headEnd type="none" w="med" len="med"/>
                      <a:tailEnd type="none" w="med" len="med"/>
                    </a:lnR>
                    <a:lnT w="9525" cap="flat" cmpd="sng" algn="ctr">
                      <a:solidFill>
                        <a:srgbClr val="2E5C53"/>
                      </a:solidFill>
                      <a:prstDash val="solid"/>
                      <a:round/>
                      <a:headEnd type="none" w="med" len="med"/>
                      <a:tailEnd type="none" w="med" len="med"/>
                    </a:lnT>
                    <a:lnB w="9525" cap="flat" cmpd="sng" algn="ctr">
                      <a:solidFill>
                        <a:srgbClr val="2E5C53"/>
                      </a:solidFill>
                      <a:prstDash val="solid"/>
                      <a:round/>
                      <a:headEnd type="none" w="med" len="med"/>
                      <a:tailEnd type="none" w="med" len="med"/>
                    </a:lnB>
                    <a:solidFill>
                      <a:srgbClr val="1B4A43"/>
                    </a:solidFill>
                  </a:tcPr>
                </a:tc>
                <a:extLst>
                  <a:ext uri="{0D108BD9-81ED-4DB2-BD59-A6C34878D82A}">
                    <a16:rowId xmlns:a16="http://schemas.microsoft.com/office/drawing/2014/main" val="10001"/>
                  </a:ext>
                </a:extLst>
              </a:tr>
              <a:tr h="419100">
                <a:tc>
                  <a:txBody>
                    <a:bodyPr/>
                    <a:lstStyle/>
                    <a:p>
                      <a:pPr marL="0" indent="0" algn="l">
                        <a:buNone/>
                      </a:pPr>
                      <a:r>
                        <a:rPr lang="en-US" sz="1350" dirty="0">
                          <a:solidFill>
                            <a:srgbClr val="FFFFFF"/>
                          </a:solidFill>
                        </a:rPr>
                        <a:t>Repeated work using common context</a:t>
                      </a:r>
                      <a:endParaRPr lang="en-US" sz="1350" dirty="0"/>
                    </a:p>
                  </a:txBody>
                  <a:tcPr anchor="ctr">
                    <a:lnL w="9525" cap="flat" cmpd="sng" algn="ctr">
                      <a:solidFill>
                        <a:srgbClr val="2E5C53"/>
                      </a:solidFill>
                      <a:prstDash val="solid"/>
                      <a:round/>
                      <a:headEnd type="none" w="med" len="med"/>
                      <a:tailEnd type="none" w="med" len="med"/>
                    </a:lnL>
                    <a:lnR w="9525" cap="flat" cmpd="sng" algn="ctr">
                      <a:solidFill>
                        <a:srgbClr val="2E5C53"/>
                      </a:solidFill>
                      <a:prstDash val="solid"/>
                      <a:round/>
                      <a:headEnd type="none" w="med" len="med"/>
                      <a:tailEnd type="none" w="med" len="med"/>
                    </a:lnR>
                    <a:lnT w="9525" cap="flat" cmpd="sng" algn="ctr">
                      <a:solidFill>
                        <a:srgbClr val="2E5C53"/>
                      </a:solidFill>
                      <a:prstDash val="solid"/>
                      <a:round/>
                      <a:headEnd type="none" w="med" len="med"/>
                      <a:tailEnd type="none" w="med" len="med"/>
                    </a:lnT>
                    <a:lnB w="9525" cap="flat" cmpd="sng" algn="ctr">
                      <a:solidFill>
                        <a:srgbClr val="2E5C53"/>
                      </a:solidFill>
                      <a:prstDash val="solid"/>
                      <a:round/>
                      <a:headEnd type="none" w="med" len="med"/>
                      <a:tailEnd type="none" w="med" len="med"/>
                    </a:lnB>
                    <a:solidFill>
                      <a:srgbClr val="14322D"/>
                    </a:solidFill>
                  </a:tcPr>
                </a:tc>
                <a:tc>
                  <a:txBody>
                    <a:bodyPr/>
                    <a:lstStyle/>
                    <a:p>
                      <a:pPr marL="0" indent="0" algn="l">
                        <a:buNone/>
                      </a:pPr>
                      <a:r>
                        <a:rPr lang="en-US" sz="1350" b="1" dirty="0">
                          <a:solidFill>
                            <a:srgbClr val="B8862E"/>
                          </a:solidFill>
                        </a:rPr>
                        <a:t>Project</a:t>
                      </a:r>
                      <a:endParaRPr lang="en-US" sz="1350" dirty="0"/>
                    </a:p>
                  </a:txBody>
                  <a:tcPr anchor="ctr">
                    <a:lnL w="9525" cap="flat" cmpd="sng" algn="ctr">
                      <a:solidFill>
                        <a:srgbClr val="2E5C53"/>
                      </a:solidFill>
                      <a:prstDash val="solid"/>
                      <a:round/>
                      <a:headEnd type="none" w="med" len="med"/>
                      <a:tailEnd type="none" w="med" len="med"/>
                    </a:lnL>
                    <a:lnR w="9525" cap="flat" cmpd="sng" algn="ctr">
                      <a:solidFill>
                        <a:srgbClr val="2E5C53"/>
                      </a:solidFill>
                      <a:prstDash val="solid"/>
                      <a:round/>
                      <a:headEnd type="none" w="med" len="med"/>
                      <a:tailEnd type="none" w="med" len="med"/>
                    </a:lnR>
                    <a:lnT w="9525" cap="flat" cmpd="sng" algn="ctr">
                      <a:solidFill>
                        <a:srgbClr val="2E5C53"/>
                      </a:solidFill>
                      <a:prstDash val="solid"/>
                      <a:round/>
                      <a:headEnd type="none" w="med" len="med"/>
                      <a:tailEnd type="none" w="med" len="med"/>
                    </a:lnT>
                    <a:lnB w="9525" cap="flat" cmpd="sng" algn="ctr">
                      <a:solidFill>
                        <a:srgbClr val="2E5C53"/>
                      </a:solidFill>
                      <a:prstDash val="solid"/>
                      <a:round/>
                      <a:headEnd type="none" w="med" len="med"/>
                      <a:tailEnd type="none" w="med" len="med"/>
                    </a:lnB>
                    <a:solidFill>
                      <a:srgbClr val="14322D"/>
                    </a:solidFill>
                  </a:tcPr>
                </a:tc>
                <a:extLst>
                  <a:ext uri="{0D108BD9-81ED-4DB2-BD59-A6C34878D82A}">
                    <a16:rowId xmlns:a16="http://schemas.microsoft.com/office/drawing/2014/main" val="10002"/>
                  </a:ext>
                </a:extLst>
              </a:tr>
              <a:tr h="419100">
                <a:tc>
                  <a:txBody>
                    <a:bodyPr/>
                    <a:lstStyle/>
                    <a:p>
                      <a:pPr marL="0" indent="0" algn="l">
                        <a:buNone/>
                      </a:pPr>
                      <a:r>
                        <a:rPr lang="en-US" sz="1350" dirty="0">
                          <a:solidFill>
                            <a:srgbClr val="FFFFFF"/>
                          </a:solidFill>
                        </a:rPr>
                        <a:t>A reusable document, visualization, or app</a:t>
                      </a:r>
                      <a:endParaRPr lang="en-US" sz="1350" dirty="0"/>
                    </a:p>
                  </a:txBody>
                  <a:tcPr anchor="ctr">
                    <a:lnL w="9525" cap="flat" cmpd="sng" algn="ctr">
                      <a:solidFill>
                        <a:srgbClr val="2E5C53"/>
                      </a:solidFill>
                      <a:prstDash val="solid"/>
                      <a:round/>
                      <a:headEnd type="none" w="med" len="med"/>
                      <a:tailEnd type="none" w="med" len="med"/>
                    </a:lnL>
                    <a:lnR w="9525" cap="flat" cmpd="sng" algn="ctr">
                      <a:solidFill>
                        <a:srgbClr val="2E5C53"/>
                      </a:solidFill>
                      <a:prstDash val="solid"/>
                      <a:round/>
                      <a:headEnd type="none" w="med" len="med"/>
                      <a:tailEnd type="none" w="med" len="med"/>
                    </a:lnR>
                    <a:lnT w="9525" cap="flat" cmpd="sng" algn="ctr">
                      <a:solidFill>
                        <a:srgbClr val="2E5C53"/>
                      </a:solidFill>
                      <a:prstDash val="solid"/>
                      <a:round/>
                      <a:headEnd type="none" w="med" len="med"/>
                      <a:tailEnd type="none" w="med" len="med"/>
                    </a:lnT>
                    <a:lnB w="9525" cap="flat" cmpd="sng" algn="ctr">
                      <a:solidFill>
                        <a:srgbClr val="2E5C53"/>
                      </a:solidFill>
                      <a:prstDash val="solid"/>
                      <a:round/>
                      <a:headEnd type="none" w="med" len="med"/>
                      <a:tailEnd type="none" w="med" len="med"/>
                    </a:lnB>
                    <a:solidFill>
                      <a:srgbClr val="1B4A43"/>
                    </a:solidFill>
                  </a:tcPr>
                </a:tc>
                <a:tc>
                  <a:txBody>
                    <a:bodyPr/>
                    <a:lstStyle/>
                    <a:p>
                      <a:pPr marL="0" indent="0" algn="l">
                        <a:buNone/>
                      </a:pPr>
                      <a:r>
                        <a:rPr lang="en-US" sz="1350" b="1" dirty="0">
                          <a:solidFill>
                            <a:srgbClr val="B8862E"/>
                          </a:solidFill>
                        </a:rPr>
                        <a:t>Artifact</a:t>
                      </a:r>
                      <a:endParaRPr lang="en-US" sz="1350" dirty="0"/>
                    </a:p>
                  </a:txBody>
                  <a:tcPr anchor="ctr">
                    <a:lnL w="9525" cap="flat" cmpd="sng" algn="ctr">
                      <a:solidFill>
                        <a:srgbClr val="2E5C53"/>
                      </a:solidFill>
                      <a:prstDash val="solid"/>
                      <a:round/>
                      <a:headEnd type="none" w="med" len="med"/>
                      <a:tailEnd type="none" w="med" len="med"/>
                    </a:lnL>
                    <a:lnR w="9525" cap="flat" cmpd="sng" algn="ctr">
                      <a:solidFill>
                        <a:srgbClr val="2E5C53"/>
                      </a:solidFill>
                      <a:prstDash val="solid"/>
                      <a:round/>
                      <a:headEnd type="none" w="med" len="med"/>
                      <a:tailEnd type="none" w="med" len="med"/>
                    </a:lnR>
                    <a:lnT w="9525" cap="flat" cmpd="sng" algn="ctr">
                      <a:solidFill>
                        <a:srgbClr val="2E5C53"/>
                      </a:solidFill>
                      <a:prstDash val="solid"/>
                      <a:round/>
                      <a:headEnd type="none" w="med" len="med"/>
                      <a:tailEnd type="none" w="med" len="med"/>
                    </a:lnT>
                    <a:lnB w="9525" cap="flat" cmpd="sng" algn="ctr">
                      <a:solidFill>
                        <a:srgbClr val="2E5C53"/>
                      </a:solidFill>
                      <a:prstDash val="solid"/>
                      <a:round/>
                      <a:headEnd type="none" w="med" len="med"/>
                      <a:tailEnd type="none" w="med" len="med"/>
                    </a:lnB>
                    <a:solidFill>
                      <a:srgbClr val="1B4A43"/>
                    </a:solidFill>
                  </a:tcPr>
                </a:tc>
                <a:extLst>
                  <a:ext uri="{0D108BD9-81ED-4DB2-BD59-A6C34878D82A}">
                    <a16:rowId xmlns:a16="http://schemas.microsoft.com/office/drawing/2014/main" val="10003"/>
                  </a:ext>
                </a:extLst>
              </a:tr>
              <a:tr h="419100">
                <a:tc>
                  <a:txBody>
                    <a:bodyPr/>
                    <a:lstStyle/>
                    <a:p>
                      <a:pPr marL="0" indent="0" algn="l">
                        <a:buNone/>
                      </a:pPr>
                      <a:r>
                        <a:rPr lang="en-US" sz="1350" dirty="0">
                          <a:solidFill>
                            <a:srgbClr val="FFFFFF"/>
                          </a:solidFill>
                        </a:rPr>
                        <a:t>High-fidelity visual design exploration</a:t>
                      </a:r>
                      <a:endParaRPr lang="en-US" sz="1350" dirty="0"/>
                    </a:p>
                  </a:txBody>
                  <a:tcPr anchor="ctr">
                    <a:lnL w="9525" cap="flat" cmpd="sng" algn="ctr">
                      <a:solidFill>
                        <a:srgbClr val="2E5C53"/>
                      </a:solidFill>
                      <a:prstDash val="solid"/>
                      <a:round/>
                      <a:headEnd type="none" w="med" len="med"/>
                      <a:tailEnd type="none" w="med" len="med"/>
                    </a:lnL>
                    <a:lnR w="9525" cap="flat" cmpd="sng" algn="ctr">
                      <a:solidFill>
                        <a:srgbClr val="2E5C53"/>
                      </a:solidFill>
                      <a:prstDash val="solid"/>
                      <a:round/>
                      <a:headEnd type="none" w="med" len="med"/>
                      <a:tailEnd type="none" w="med" len="med"/>
                    </a:lnR>
                    <a:lnT w="9525" cap="flat" cmpd="sng" algn="ctr">
                      <a:solidFill>
                        <a:srgbClr val="2E5C53"/>
                      </a:solidFill>
                      <a:prstDash val="solid"/>
                      <a:round/>
                      <a:headEnd type="none" w="med" len="med"/>
                      <a:tailEnd type="none" w="med" len="med"/>
                    </a:lnT>
                    <a:lnB w="9525" cap="flat" cmpd="sng" algn="ctr">
                      <a:solidFill>
                        <a:srgbClr val="2E5C53"/>
                      </a:solidFill>
                      <a:prstDash val="solid"/>
                      <a:round/>
                      <a:headEnd type="none" w="med" len="med"/>
                      <a:tailEnd type="none" w="med" len="med"/>
                    </a:lnB>
                    <a:solidFill>
                      <a:srgbClr val="14322D"/>
                    </a:solidFill>
                  </a:tcPr>
                </a:tc>
                <a:tc>
                  <a:txBody>
                    <a:bodyPr/>
                    <a:lstStyle/>
                    <a:p>
                      <a:pPr marL="0" indent="0" algn="l">
                        <a:buNone/>
                      </a:pPr>
                      <a:r>
                        <a:rPr lang="en-US" sz="1350" b="1" dirty="0">
                          <a:solidFill>
                            <a:srgbClr val="B8862E"/>
                          </a:solidFill>
                        </a:rPr>
                        <a:t>Claude Design</a:t>
                      </a:r>
                      <a:endParaRPr lang="en-US" sz="1350" dirty="0"/>
                    </a:p>
                  </a:txBody>
                  <a:tcPr anchor="ctr">
                    <a:lnL w="9525" cap="flat" cmpd="sng" algn="ctr">
                      <a:solidFill>
                        <a:srgbClr val="2E5C53"/>
                      </a:solidFill>
                      <a:prstDash val="solid"/>
                      <a:round/>
                      <a:headEnd type="none" w="med" len="med"/>
                      <a:tailEnd type="none" w="med" len="med"/>
                    </a:lnL>
                    <a:lnR w="9525" cap="flat" cmpd="sng" algn="ctr">
                      <a:solidFill>
                        <a:srgbClr val="2E5C53"/>
                      </a:solidFill>
                      <a:prstDash val="solid"/>
                      <a:round/>
                      <a:headEnd type="none" w="med" len="med"/>
                      <a:tailEnd type="none" w="med" len="med"/>
                    </a:lnR>
                    <a:lnT w="9525" cap="flat" cmpd="sng" algn="ctr">
                      <a:solidFill>
                        <a:srgbClr val="2E5C53"/>
                      </a:solidFill>
                      <a:prstDash val="solid"/>
                      <a:round/>
                      <a:headEnd type="none" w="med" len="med"/>
                      <a:tailEnd type="none" w="med" len="med"/>
                    </a:lnT>
                    <a:lnB w="9525" cap="flat" cmpd="sng" algn="ctr">
                      <a:solidFill>
                        <a:srgbClr val="2E5C53"/>
                      </a:solidFill>
                      <a:prstDash val="solid"/>
                      <a:round/>
                      <a:headEnd type="none" w="med" len="med"/>
                      <a:tailEnd type="none" w="med" len="med"/>
                    </a:lnB>
                    <a:solidFill>
                      <a:srgbClr val="14322D"/>
                    </a:solidFill>
                  </a:tcPr>
                </a:tc>
                <a:extLst>
                  <a:ext uri="{0D108BD9-81ED-4DB2-BD59-A6C34878D82A}">
                    <a16:rowId xmlns:a16="http://schemas.microsoft.com/office/drawing/2014/main" val="10004"/>
                  </a:ext>
                </a:extLst>
              </a:tr>
              <a:tr h="419100">
                <a:tc>
                  <a:txBody>
                    <a:bodyPr/>
                    <a:lstStyle/>
                    <a:p>
                      <a:pPr marL="0" indent="0" algn="l">
                        <a:buNone/>
                      </a:pPr>
                      <a:r>
                        <a:rPr lang="en-US" sz="1350" dirty="0">
                          <a:solidFill>
                            <a:srgbClr val="FFFFFF"/>
                          </a:solidFill>
                        </a:rPr>
                        <a:t>Source-controlled production software</a:t>
                      </a:r>
                      <a:endParaRPr lang="en-US" sz="1350" dirty="0"/>
                    </a:p>
                  </a:txBody>
                  <a:tcPr anchor="ctr">
                    <a:lnL w="9525" cap="flat" cmpd="sng" algn="ctr">
                      <a:solidFill>
                        <a:srgbClr val="2E5C53"/>
                      </a:solidFill>
                      <a:prstDash val="solid"/>
                      <a:round/>
                      <a:headEnd type="none" w="med" len="med"/>
                      <a:tailEnd type="none" w="med" len="med"/>
                    </a:lnL>
                    <a:lnR w="9525" cap="flat" cmpd="sng" algn="ctr">
                      <a:solidFill>
                        <a:srgbClr val="2E5C53"/>
                      </a:solidFill>
                      <a:prstDash val="solid"/>
                      <a:round/>
                      <a:headEnd type="none" w="med" len="med"/>
                      <a:tailEnd type="none" w="med" len="med"/>
                    </a:lnR>
                    <a:lnT w="9525" cap="flat" cmpd="sng" algn="ctr">
                      <a:solidFill>
                        <a:srgbClr val="2E5C53"/>
                      </a:solidFill>
                      <a:prstDash val="solid"/>
                      <a:round/>
                      <a:headEnd type="none" w="med" len="med"/>
                      <a:tailEnd type="none" w="med" len="med"/>
                    </a:lnT>
                    <a:lnB w="9525" cap="flat" cmpd="sng" algn="ctr">
                      <a:solidFill>
                        <a:srgbClr val="2E5C53"/>
                      </a:solidFill>
                      <a:prstDash val="solid"/>
                      <a:round/>
                      <a:headEnd type="none" w="med" len="med"/>
                      <a:tailEnd type="none" w="med" len="med"/>
                    </a:lnB>
                    <a:solidFill>
                      <a:srgbClr val="1B4A43"/>
                    </a:solidFill>
                  </a:tcPr>
                </a:tc>
                <a:tc>
                  <a:txBody>
                    <a:bodyPr/>
                    <a:lstStyle/>
                    <a:p>
                      <a:pPr marL="0" indent="0" algn="l">
                        <a:buNone/>
                      </a:pPr>
                      <a:r>
                        <a:rPr lang="en-US" sz="1350" b="1" dirty="0">
                          <a:solidFill>
                            <a:srgbClr val="B8862E"/>
                          </a:solidFill>
                        </a:rPr>
                        <a:t>Claude Code or a development stack</a:t>
                      </a:r>
                      <a:endParaRPr lang="en-US" sz="1350" dirty="0"/>
                    </a:p>
                  </a:txBody>
                  <a:tcPr anchor="ctr">
                    <a:lnL w="9525" cap="flat" cmpd="sng" algn="ctr">
                      <a:solidFill>
                        <a:srgbClr val="2E5C53"/>
                      </a:solidFill>
                      <a:prstDash val="solid"/>
                      <a:round/>
                      <a:headEnd type="none" w="med" len="med"/>
                      <a:tailEnd type="none" w="med" len="med"/>
                    </a:lnL>
                    <a:lnR w="9525" cap="flat" cmpd="sng" algn="ctr">
                      <a:solidFill>
                        <a:srgbClr val="2E5C53"/>
                      </a:solidFill>
                      <a:prstDash val="solid"/>
                      <a:round/>
                      <a:headEnd type="none" w="med" len="med"/>
                      <a:tailEnd type="none" w="med" len="med"/>
                    </a:lnR>
                    <a:lnT w="9525" cap="flat" cmpd="sng" algn="ctr">
                      <a:solidFill>
                        <a:srgbClr val="2E5C53"/>
                      </a:solidFill>
                      <a:prstDash val="solid"/>
                      <a:round/>
                      <a:headEnd type="none" w="med" len="med"/>
                      <a:tailEnd type="none" w="med" len="med"/>
                    </a:lnT>
                    <a:lnB w="9525" cap="flat" cmpd="sng" algn="ctr">
                      <a:solidFill>
                        <a:srgbClr val="2E5C53"/>
                      </a:solidFill>
                      <a:prstDash val="solid"/>
                      <a:round/>
                      <a:headEnd type="none" w="med" len="med"/>
                      <a:tailEnd type="none" w="med" len="med"/>
                    </a:lnB>
                    <a:solidFill>
                      <a:srgbClr val="1B4A43"/>
                    </a:solidFill>
                  </a:tcPr>
                </a:tc>
                <a:extLst>
                  <a:ext uri="{0D108BD9-81ED-4DB2-BD59-A6C34878D82A}">
                    <a16:rowId xmlns:a16="http://schemas.microsoft.com/office/drawing/2014/main" val="10005"/>
                  </a:ext>
                </a:extLst>
              </a:tr>
            </a:tbl>
          </a:graphicData>
        </a:graphic>
      </p:graphicFrame>
      <p:sp>
        <p:nvSpPr>
          <p:cNvPr id="4" name="Text 1"/>
          <p:cNvSpPr/>
          <p:nvPr/>
        </p:nvSpPr>
        <p:spPr>
          <a:xfrm>
            <a:off x="685800" y="3977640"/>
            <a:ext cx="914400" cy="914400"/>
          </a:xfrm>
          <a:prstGeom prst="rect">
            <a:avLst/>
          </a:prstGeom>
          <a:noFill/>
          <a:ln/>
        </p:spPr>
        <p:txBody>
          <a:bodyPr wrap="square" rtlCol="0" anchor="ctr"/>
          <a:lstStyle/>
          <a:p>
            <a:pPr marL="0" indent="0">
              <a:buNone/>
            </a:pPr>
            <a:r>
              <a:rPr lang="en-US" sz="7000" b="1" dirty="0">
                <a:solidFill>
                  <a:srgbClr val="B8862E"/>
                </a:solidFill>
                <a:latin typeface="Cambria" pitchFamily="34" charset="0"/>
                <a:ea typeface="Cambria" pitchFamily="34" charset="-122"/>
                <a:cs typeface="Cambria" pitchFamily="34" charset="-120"/>
              </a:rPr>
              <a:t>“</a:t>
            </a:r>
            <a:endParaRPr lang="en-US" sz="7000" dirty="0"/>
          </a:p>
        </p:txBody>
      </p:sp>
      <p:sp>
        <p:nvSpPr>
          <p:cNvPr id="5" name="Text 2"/>
          <p:cNvSpPr/>
          <p:nvPr/>
        </p:nvSpPr>
        <p:spPr>
          <a:xfrm>
            <a:off x="1417320" y="4069080"/>
            <a:ext cx="10042855" cy="1051560"/>
          </a:xfrm>
          <a:prstGeom prst="rect">
            <a:avLst/>
          </a:prstGeom>
          <a:noFill/>
          <a:ln/>
        </p:spPr>
        <p:txBody>
          <a:bodyPr wrap="square" rtlCol="0" anchor="ctr"/>
          <a:lstStyle/>
          <a:p>
            <a:pPr marL="0" indent="0">
              <a:buNone/>
            </a:pPr>
            <a:r>
              <a:rPr lang="en-US" sz="2300" b="1" dirty="0">
                <a:solidFill>
                  <a:srgbClr val="FFFFFF"/>
                </a:solidFill>
                <a:latin typeface="Cambria" pitchFamily="34" charset="0"/>
                <a:ea typeface="Cambria" pitchFamily="34" charset="-122"/>
                <a:cs typeface="Cambria" pitchFamily="34" charset="-120"/>
              </a:rPr>
              <a:t>Move reusable context into a Project, then turn the most useful results into Artifacts.</a:t>
            </a:r>
            <a:endParaRPr lang="en-US" sz="2300" dirty="0"/>
          </a:p>
        </p:txBody>
      </p:sp>
      <p:sp>
        <p:nvSpPr>
          <p:cNvPr id="6" name="Shape 3"/>
          <p:cNvSpPr/>
          <p:nvPr/>
        </p:nvSpPr>
        <p:spPr>
          <a:xfrm>
            <a:off x="731520" y="5349240"/>
            <a:ext cx="10728655" cy="1051560"/>
          </a:xfrm>
          <a:prstGeom prst="roundRect">
            <a:avLst>
              <a:gd name="adj" fmla="val 6957"/>
            </a:avLst>
          </a:prstGeom>
          <a:solidFill>
            <a:srgbClr val="1B4A43"/>
          </a:solidFill>
          <a:ln/>
        </p:spPr>
        <p:txBody>
          <a:bodyPr/>
          <a:lstStyle/>
          <a:p>
            <a:endParaRPr lang="en-US"/>
          </a:p>
        </p:txBody>
      </p:sp>
      <p:sp>
        <p:nvSpPr>
          <p:cNvPr id="7" name="Text 4"/>
          <p:cNvSpPr/>
          <p:nvPr/>
        </p:nvSpPr>
        <p:spPr>
          <a:xfrm>
            <a:off x="1051560" y="5349240"/>
            <a:ext cx="10088575" cy="1051560"/>
          </a:xfrm>
          <a:prstGeom prst="rect">
            <a:avLst/>
          </a:prstGeom>
          <a:noFill/>
          <a:ln/>
        </p:spPr>
        <p:txBody>
          <a:bodyPr wrap="square" rtlCol="0" anchor="ctr"/>
          <a:lstStyle/>
          <a:p>
            <a:pPr marL="0" indent="0" algn="ctr">
              <a:buNone/>
            </a:pPr>
            <a:r>
              <a:rPr lang="en-US" sz="1400" i="1" dirty="0">
                <a:solidFill>
                  <a:srgbClr val="D3E3DC"/>
                </a:solidFill>
                <a:latin typeface="Calibri" pitchFamily="34" charset="0"/>
                <a:ea typeface="Calibri" pitchFamily="34" charset="-122"/>
                <a:cs typeface="Calibri" pitchFamily="34" charset="-120"/>
              </a:rPr>
              <a:t>The key idea is not that every chat should become an application. The key idea is that once work becomes repeatable, shared, or multi-step, we should stop treating it as an isolated prompt.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411480"/>
            <a:ext cx="10728655" cy="777240"/>
          </a:xfrm>
          <a:prstGeom prst="rect">
            <a:avLst/>
          </a:prstGeom>
          <a:noFill/>
          <a:ln/>
        </p:spPr>
        <p:txBody>
          <a:bodyPr wrap="square" rtlCol="0" anchor="ctr"/>
          <a:lstStyle/>
          <a:p>
            <a:pPr marL="0" indent="0" algn="l">
              <a:buNone/>
            </a:pPr>
            <a:r>
              <a:rPr lang="en-US" sz="3200" b="1" dirty="0">
                <a:solidFill>
                  <a:srgbClr val="14322D"/>
                </a:solidFill>
                <a:latin typeface="Cambria" pitchFamily="34" charset="0"/>
                <a:ea typeface="Cambria" pitchFamily="34" charset="-122"/>
                <a:cs typeface="Cambria" pitchFamily="34" charset="-120"/>
              </a:rPr>
              <a:t>Backup: Common Limitations</a:t>
            </a:r>
            <a:endParaRPr lang="en-US" sz="3200" dirty="0"/>
          </a:p>
        </p:txBody>
      </p:sp>
      <p:sp>
        <p:nvSpPr>
          <p:cNvPr id="3" name="Shape 1"/>
          <p:cNvSpPr/>
          <p:nvPr/>
        </p:nvSpPr>
        <p:spPr>
          <a:xfrm>
            <a:off x="731520" y="1508760"/>
            <a:ext cx="10728655" cy="777240"/>
          </a:xfrm>
          <a:prstGeom prst="roundRect">
            <a:avLst>
              <a:gd name="adj" fmla="val 9412"/>
            </a:avLst>
          </a:prstGeom>
          <a:solidFill>
            <a:srgbClr val="E1EAE6"/>
          </a:solidFill>
          <a:ln/>
        </p:spPr>
        <p:txBody>
          <a:bodyPr/>
          <a:lstStyle/>
          <a:p>
            <a:endParaRPr lang="en-US"/>
          </a:p>
        </p:txBody>
      </p:sp>
      <p:sp>
        <p:nvSpPr>
          <p:cNvPr id="4" name="Shape 2"/>
          <p:cNvSpPr/>
          <p:nvPr/>
        </p:nvSpPr>
        <p:spPr>
          <a:xfrm>
            <a:off x="914400" y="1664208"/>
            <a:ext cx="457200" cy="457200"/>
          </a:xfrm>
          <a:prstGeom prst="ellipse">
            <a:avLst/>
          </a:prstGeom>
          <a:solidFill>
            <a:srgbClr val="B8862E"/>
          </a:solidFill>
          <a:ln/>
        </p:spPr>
        <p:txBody>
          <a:bodyPr/>
          <a:lstStyle/>
          <a:p>
            <a:endParaRPr lang="en-US"/>
          </a:p>
        </p:txBody>
      </p:sp>
      <p:pic>
        <p:nvPicPr>
          <p:cNvPr id="5" name="Image 0" descr="/home/claude/deck/assets/icons/alert-white.png"/>
          <p:cNvPicPr>
            <a:picLocks noChangeAspect="1"/>
          </p:cNvPicPr>
          <p:nvPr/>
        </p:nvPicPr>
        <p:blipFill>
          <a:blip r:embed="rId3"/>
          <a:stretch>
            <a:fillRect/>
          </a:stretch>
        </p:blipFill>
        <p:spPr>
          <a:xfrm>
            <a:off x="1024128" y="1773936"/>
            <a:ext cx="237744" cy="237744"/>
          </a:xfrm>
          <a:prstGeom prst="rect">
            <a:avLst/>
          </a:prstGeom>
        </p:spPr>
      </p:pic>
      <p:sp>
        <p:nvSpPr>
          <p:cNvPr id="6" name="Text 3"/>
          <p:cNvSpPr/>
          <p:nvPr/>
        </p:nvSpPr>
        <p:spPr>
          <a:xfrm>
            <a:off x="1600200" y="1508760"/>
            <a:ext cx="9631375" cy="777240"/>
          </a:xfrm>
          <a:prstGeom prst="rect">
            <a:avLst/>
          </a:prstGeom>
          <a:noFill/>
          <a:ln/>
        </p:spPr>
        <p:txBody>
          <a:bodyPr wrap="square" rtlCol="0" anchor="ctr"/>
          <a:lstStyle/>
          <a:p>
            <a:pPr marL="0" indent="0">
              <a:buNone/>
            </a:pPr>
            <a:r>
              <a:rPr lang="en-US" sz="1500" dirty="0">
                <a:solidFill>
                  <a:srgbClr val="1B2624"/>
                </a:solidFill>
                <a:latin typeface="Calibri" pitchFamily="34" charset="0"/>
                <a:ea typeface="Calibri" pitchFamily="34" charset="-122"/>
                <a:cs typeface="Calibri" pitchFamily="34" charset="-120"/>
              </a:rPr>
              <a:t>Project knowledge must be curated.</a:t>
            </a:r>
            <a:endParaRPr lang="en-US" sz="1500" dirty="0"/>
          </a:p>
        </p:txBody>
      </p:sp>
      <p:sp>
        <p:nvSpPr>
          <p:cNvPr id="7" name="Shape 4"/>
          <p:cNvSpPr/>
          <p:nvPr/>
        </p:nvSpPr>
        <p:spPr>
          <a:xfrm>
            <a:off x="731520" y="2441448"/>
            <a:ext cx="10728655" cy="777240"/>
          </a:xfrm>
          <a:prstGeom prst="roundRect">
            <a:avLst>
              <a:gd name="adj" fmla="val 9412"/>
            </a:avLst>
          </a:prstGeom>
          <a:solidFill>
            <a:srgbClr val="E1EAE6"/>
          </a:solidFill>
          <a:ln/>
        </p:spPr>
        <p:txBody>
          <a:bodyPr/>
          <a:lstStyle/>
          <a:p>
            <a:endParaRPr lang="en-US"/>
          </a:p>
        </p:txBody>
      </p:sp>
      <p:sp>
        <p:nvSpPr>
          <p:cNvPr id="8" name="Shape 5"/>
          <p:cNvSpPr/>
          <p:nvPr/>
        </p:nvSpPr>
        <p:spPr>
          <a:xfrm>
            <a:off x="914400" y="2596896"/>
            <a:ext cx="457200" cy="457200"/>
          </a:xfrm>
          <a:prstGeom prst="ellipse">
            <a:avLst/>
          </a:prstGeom>
          <a:solidFill>
            <a:srgbClr val="B8862E"/>
          </a:solidFill>
          <a:ln/>
        </p:spPr>
        <p:txBody>
          <a:bodyPr/>
          <a:lstStyle/>
          <a:p>
            <a:endParaRPr lang="en-US"/>
          </a:p>
        </p:txBody>
      </p:sp>
      <p:pic>
        <p:nvPicPr>
          <p:cNvPr id="9" name="Image 1" descr="/home/claude/deck/assets/icons/alert-white.png"/>
          <p:cNvPicPr>
            <a:picLocks noChangeAspect="1"/>
          </p:cNvPicPr>
          <p:nvPr/>
        </p:nvPicPr>
        <p:blipFill>
          <a:blip r:embed="rId3"/>
          <a:stretch>
            <a:fillRect/>
          </a:stretch>
        </p:blipFill>
        <p:spPr>
          <a:xfrm>
            <a:off x="1024128" y="2706624"/>
            <a:ext cx="237744" cy="237744"/>
          </a:xfrm>
          <a:prstGeom prst="rect">
            <a:avLst/>
          </a:prstGeom>
        </p:spPr>
      </p:pic>
      <p:sp>
        <p:nvSpPr>
          <p:cNvPr id="10" name="Text 6"/>
          <p:cNvSpPr/>
          <p:nvPr/>
        </p:nvSpPr>
        <p:spPr>
          <a:xfrm>
            <a:off x="1600200" y="2441448"/>
            <a:ext cx="9631375" cy="777240"/>
          </a:xfrm>
          <a:prstGeom prst="rect">
            <a:avLst/>
          </a:prstGeom>
          <a:noFill/>
          <a:ln/>
        </p:spPr>
        <p:txBody>
          <a:bodyPr wrap="square" rtlCol="0" anchor="ctr"/>
          <a:lstStyle/>
          <a:p>
            <a:pPr marL="0" indent="0">
              <a:buNone/>
            </a:pPr>
            <a:r>
              <a:rPr lang="en-US" sz="1500" dirty="0">
                <a:solidFill>
                  <a:srgbClr val="1B2624"/>
                </a:solidFill>
                <a:latin typeface="Calibri" pitchFamily="34" charset="0"/>
                <a:ea typeface="Calibri" pitchFamily="34" charset="-122"/>
                <a:cs typeface="Calibri" pitchFamily="34" charset="-120"/>
              </a:rPr>
              <a:t>Shared context does not guarantee perfect grounding.</a:t>
            </a:r>
            <a:endParaRPr lang="en-US" sz="1500" dirty="0"/>
          </a:p>
        </p:txBody>
      </p:sp>
      <p:sp>
        <p:nvSpPr>
          <p:cNvPr id="11" name="Shape 7"/>
          <p:cNvSpPr/>
          <p:nvPr/>
        </p:nvSpPr>
        <p:spPr>
          <a:xfrm>
            <a:off x="731520" y="3374136"/>
            <a:ext cx="10728655" cy="777240"/>
          </a:xfrm>
          <a:prstGeom prst="roundRect">
            <a:avLst>
              <a:gd name="adj" fmla="val 9412"/>
            </a:avLst>
          </a:prstGeom>
          <a:solidFill>
            <a:srgbClr val="E1EAE6"/>
          </a:solidFill>
          <a:ln/>
        </p:spPr>
        <p:txBody>
          <a:bodyPr/>
          <a:lstStyle/>
          <a:p>
            <a:endParaRPr lang="en-US"/>
          </a:p>
        </p:txBody>
      </p:sp>
      <p:sp>
        <p:nvSpPr>
          <p:cNvPr id="12" name="Shape 8"/>
          <p:cNvSpPr/>
          <p:nvPr/>
        </p:nvSpPr>
        <p:spPr>
          <a:xfrm>
            <a:off x="914400" y="3529584"/>
            <a:ext cx="457200" cy="457200"/>
          </a:xfrm>
          <a:prstGeom prst="ellipse">
            <a:avLst/>
          </a:prstGeom>
          <a:solidFill>
            <a:srgbClr val="B8862E"/>
          </a:solidFill>
          <a:ln/>
        </p:spPr>
        <p:txBody>
          <a:bodyPr/>
          <a:lstStyle/>
          <a:p>
            <a:endParaRPr lang="en-US"/>
          </a:p>
        </p:txBody>
      </p:sp>
      <p:pic>
        <p:nvPicPr>
          <p:cNvPr id="13" name="Image 2" descr="/home/claude/deck/assets/icons/alert-white.png"/>
          <p:cNvPicPr>
            <a:picLocks noChangeAspect="1"/>
          </p:cNvPicPr>
          <p:nvPr/>
        </p:nvPicPr>
        <p:blipFill>
          <a:blip r:embed="rId3"/>
          <a:stretch>
            <a:fillRect/>
          </a:stretch>
        </p:blipFill>
        <p:spPr>
          <a:xfrm>
            <a:off x="1024128" y="3639312"/>
            <a:ext cx="237744" cy="237744"/>
          </a:xfrm>
          <a:prstGeom prst="rect">
            <a:avLst/>
          </a:prstGeom>
        </p:spPr>
      </p:pic>
      <p:sp>
        <p:nvSpPr>
          <p:cNvPr id="14" name="Text 9"/>
          <p:cNvSpPr/>
          <p:nvPr/>
        </p:nvSpPr>
        <p:spPr>
          <a:xfrm>
            <a:off x="1600200" y="3374136"/>
            <a:ext cx="9631375" cy="777240"/>
          </a:xfrm>
          <a:prstGeom prst="rect">
            <a:avLst/>
          </a:prstGeom>
          <a:noFill/>
          <a:ln/>
        </p:spPr>
        <p:txBody>
          <a:bodyPr wrap="square" rtlCol="0" anchor="ctr"/>
          <a:lstStyle/>
          <a:p>
            <a:pPr marL="0" indent="0">
              <a:buNone/>
            </a:pPr>
            <a:r>
              <a:rPr lang="en-US" sz="1500" dirty="0">
                <a:solidFill>
                  <a:srgbClr val="1B2624"/>
                </a:solidFill>
                <a:latin typeface="Calibri" pitchFamily="34" charset="0"/>
                <a:ea typeface="Calibri" pitchFamily="34" charset="-122"/>
                <a:cs typeface="Calibri" pitchFamily="34" charset="-120"/>
              </a:rPr>
              <a:t>Generated interfaces still require review.</a:t>
            </a:r>
            <a:endParaRPr lang="en-US" sz="1500" dirty="0"/>
          </a:p>
        </p:txBody>
      </p:sp>
      <p:sp>
        <p:nvSpPr>
          <p:cNvPr id="15" name="Shape 10"/>
          <p:cNvSpPr/>
          <p:nvPr/>
        </p:nvSpPr>
        <p:spPr>
          <a:xfrm>
            <a:off x="731520" y="4306824"/>
            <a:ext cx="10728655" cy="777240"/>
          </a:xfrm>
          <a:prstGeom prst="roundRect">
            <a:avLst>
              <a:gd name="adj" fmla="val 9412"/>
            </a:avLst>
          </a:prstGeom>
          <a:solidFill>
            <a:srgbClr val="E1EAE6"/>
          </a:solidFill>
          <a:ln/>
        </p:spPr>
        <p:txBody>
          <a:bodyPr/>
          <a:lstStyle/>
          <a:p>
            <a:endParaRPr lang="en-US"/>
          </a:p>
        </p:txBody>
      </p:sp>
      <p:sp>
        <p:nvSpPr>
          <p:cNvPr id="16" name="Shape 11"/>
          <p:cNvSpPr/>
          <p:nvPr/>
        </p:nvSpPr>
        <p:spPr>
          <a:xfrm>
            <a:off x="914400" y="4462272"/>
            <a:ext cx="457200" cy="457200"/>
          </a:xfrm>
          <a:prstGeom prst="ellipse">
            <a:avLst/>
          </a:prstGeom>
          <a:solidFill>
            <a:srgbClr val="B8862E"/>
          </a:solidFill>
          <a:ln/>
        </p:spPr>
        <p:txBody>
          <a:bodyPr/>
          <a:lstStyle/>
          <a:p>
            <a:endParaRPr lang="en-US"/>
          </a:p>
        </p:txBody>
      </p:sp>
      <p:pic>
        <p:nvPicPr>
          <p:cNvPr id="17" name="Image 3" descr="/home/claude/deck/assets/icons/alert-white.png"/>
          <p:cNvPicPr>
            <a:picLocks noChangeAspect="1"/>
          </p:cNvPicPr>
          <p:nvPr/>
        </p:nvPicPr>
        <p:blipFill>
          <a:blip r:embed="rId3"/>
          <a:stretch>
            <a:fillRect/>
          </a:stretch>
        </p:blipFill>
        <p:spPr>
          <a:xfrm>
            <a:off x="1024128" y="4572000"/>
            <a:ext cx="237744" cy="237744"/>
          </a:xfrm>
          <a:prstGeom prst="rect">
            <a:avLst/>
          </a:prstGeom>
        </p:spPr>
      </p:pic>
      <p:sp>
        <p:nvSpPr>
          <p:cNvPr id="18" name="Text 12"/>
          <p:cNvSpPr/>
          <p:nvPr/>
        </p:nvSpPr>
        <p:spPr>
          <a:xfrm>
            <a:off x="1600200" y="4306824"/>
            <a:ext cx="9631375" cy="777240"/>
          </a:xfrm>
          <a:prstGeom prst="rect">
            <a:avLst/>
          </a:prstGeom>
          <a:noFill/>
          <a:ln/>
        </p:spPr>
        <p:txBody>
          <a:bodyPr wrap="square" rtlCol="0" anchor="ctr"/>
          <a:lstStyle/>
          <a:p>
            <a:pPr marL="0" indent="0">
              <a:buNone/>
            </a:pPr>
            <a:r>
              <a:rPr lang="en-US" sz="1500" dirty="0">
                <a:solidFill>
                  <a:srgbClr val="1B2624"/>
                </a:solidFill>
                <a:latin typeface="Calibri" pitchFamily="34" charset="0"/>
                <a:ea typeface="Calibri" pitchFamily="34" charset="-122"/>
                <a:cs typeface="Calibri" pitchFamily="34" charset="-120"/>
              </a:rPr>
              <a:t>Artifacts are prototypes unless engineered and tested for production.</a:t>
            </a:r>
            <a:endParaRPr lang="en-US" sz="1500" dirty="0"/>
          </a:p>
        </p:txBody>
      </p:sp>
      <p:sp>
        <p:nvSpPr>
          <p:cNvPr id="19" name="Shape 13"/>
          <p:cNvSpPr/>
          <p:nvPr/>
        </p:nvSpPr>
        <p:spPr>
          <a:xfrm>
            <a:off x="731520" y="5239512"/>
            <a:ext cx="10728655" cy="777240"/>
          </a:xfrm>
          <a:prstGeom prst="roundRect">
            <a:avLst>
              <a:gd name="adj" fmla="val 9412"/>
            </a:avLst>
          </a:prstGeom>
          <a:solidFill>
            <a:srgbClr val="E1EAE6"/>
          </a:solidFill>
          <a:ln/>
        </p:spPr>
        <p:txBody>
          <a:bodyPr/>
          <a:lstStyle/>
          <a:p>
            <a:endParaRPr lang="en-US"/>
          </a:p>
        </p:txBody>
      </p:sp>
      <p:sp>
        <p:nvSpPr>
          <p:cNvPr id="20" name="Shape 14"/>
          <p:cNvSpPr/>
          <p:nvPr/>
        </p:nvSpPr>
        <p:spPr>
          <a:xfrm>
            <a:off x="914400" y="5394960"/>
            <a:ext cx="457200" cy="457200"/>
          </a:xfrm>
          <a:prstGeom prst="ellipse">
            <a:avLst/>
          </a:prstGeom>
          <a:solidFill>
            <a:srgbClr val="B8862E"/>
          </a:solidFill>
          <a:ln/>
        </p:spPr>
        <p:txBody>
          <a:bodyPr/>
          <a:lstStyle/>
          <a:p>
            <a:endParaRPr lang="en-US"/>
          </a:p>
        </p:txBody>
      </p:sp>
      <p:pic>
        <p:nvPicPr>
          <p:cNvPr id="21" name="Image 4" descr="/home/claude/deck/assets/icons/alert-white.png"/>
          <p:cNvPicPr>
            <a:picLocks noChangeAspect="1"/>
          </p:cNvPicPr>
          <p:nvPr/>
        </p:nvPicPr>
        <p:blipFill>
          <a:blip r:embed="rId3"/>
          <a:stretch>
            <a:fillRect/>
          </a:stretch>
        </p:blipFill>
        <p:spPr>
          <a:xfrm>
            <a:off x="1024128" y="5504688"/>
            <a:ext cx="237744" cy="237744"/>
          </a:xfrm>
          <a:prstGeom prst="rect">
            <a:avLst/>
          </a:prstGeom>
        </p:spPr>
      </p:pic>
      <p:sp>
        <p:nvSpPr>
          <p:cNvPr id="22" name="Text 15"/>
          <p:cNvSpPr/>
          <p:nvPr/>
        </p:nvSpPr>
        <p:spPr>
          <a:xfrm>
            <a:off x="1600200" y="5239512"/>
            <a:ext cx="9631375" cy="777240"/>
          </a:xfrm>
          <a:prstGeom prst="rect">
            <a:avLst/>
          </a:prstGeom>
          <a:noFill/>
          <a:ln/>
        </p:spPr>
        <p:txBody>
          <a:bodyPr wrap="square" rtlCol="0" anchor="ctr"/>
          <a:lstStyle/>
          <a:p>
            <a:pPr marL="0" indent="0">
              <a:buNone/>
            </a:pPr>
            <a:r>
              <a:rPr lang="en-US" sz="1500" dirty="0">
                <a:solidFill>
                  <a:srgbClr val="1B2624"/>
                </a:solidFill>
                <a:latin typeface="Calibri" pitchFamily="34" charset="0"/>
                <a:ea typeface="Calibri" pitchFamily="34" charset="-122"/>
                <a:cs typeface="Calibri" pitchFamily="34" charset="-120"/>
              </a:rPr>
              <a:t>Sensitive or regulated information requires appropriate controls.</a:t>
            </a:r>
            <a:endParaRPr lang="en-US" sz="1500" dirty="0"/>
          </a:p>
        </p:txBody>
      </p:sp>
      <p:sp>
        <p:nvSpPr>
          <p:cNvPr id="23" name="Text 16"/>
          <p:cNvSpPr/>
          <p:nvPr/>
        </p:nvSpPr>
        <p:spPr>
          <a:xfrm>
            <a:off x="731520" y="6355080"/>
            <a:ext cx="7315200" cy="320040"/>
          </a:xfrm>
          <a:prstGeom prst="rect">
            <a:avLst/>
          </a:prstGeom>
          <a:noFill/>
          <a:ln/>
        </p:spPr>
        <p:txBody>
          <a:bodyPr wrap="square" rtlCol="0" anchor="ctr"/>
          <a:lstStyle/>
          <a:p>
            <a:pPr marL="0" indent="0" algn="l">
              <a:buNone/>
            </a:pPr>
            <a:r>
              <a:rPr lang="en-US" sz="1000" dirty="0">
                <a:solidFill>
                  <a:srgbClr val="4E5A57"/>
                </a:solidFill>
                <a:latin typeface="Calibri" pitchFamily="34" charset="0"/>
                <a:ea typeface="Calibri" pitchFamily="34" charset="-122"/>
                <a:cs typeface="Calibri" pitchFamily="34" charset="-120"/>
              </a:rPr>
              <a:t>Beyond the Chat — Backup</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411480"/>
            <a:ext cx="10728655" cy="777240"/>
          </a:xfrm>
          <a:prstGeom prst="rect">
            <a:avLst/>
          </a:prstGeom>
          <a:noFill/>
          <a:ln/>
        </p:spPr>
        <p:txBody>
          <a:bodyPr wrap="square" rtlCol="0" anchor="ctr"/>
          <a:lstStyle/>
          <a:p>
            <a:pPr marL="0" indent="0" algn="l">
              <a:buNone/>
            </a:pPr>
            <a:r>
              <a:rPr lang="en-US" sz="3200" b="1" dirty="0">
                <a:solidFill>
                  <a:srgbClr val="14322D"/>
                </a:solidFill>
                <a:latin typeface="Cambria" pitchFamily="34" charset="0"/>
                <a:ea typeface="Cambria" pitchFamily="34" charset="-122"/>
                <a:cs typeface="Cambria" pitchFamily="34" charset="-120"/>
              </a:rPr>
              <a:t>Backup: Project Contents</a:t>
            </a:r>
            <a:endParaRPr lang="en-US" sz="3200" dirty="0"/>
          </a:p>
        </p:txBody>
      </p:sp>
      <p:sp>
        <p:nvSpPr>
          <p:cNvPr id="3" name="Text 1"/>
          <p:cNvSpPr/>
          <p:nvPr/>
        </p:nvSpPr>
        <p:spPr>
          <a:xfrm>
            <a:off x="731520" y="1097280"/>
            <a:ext cx="9144000" cy="320040"/>
          </a:xfrm>
          <a:prstGeom prst="rect">
            <a:avLst/>
          </a:prstGeom>
          <a:noFill/>
          <a:ln/>
        </p:spPr>
        <p:txBody>
          <a:bodyPr wrap="square" rtlCol="0" anchor="ctr"/>
          <a:lstStyle/>
          <a:p>
            <a:pPr marL="0" indent="0">
              <a:buNone/>
            </a:pPr>
            <a:r>
              <a:rPr lang="en-US" sz="1300" i="1" dirty="0">
                <a:solidFill>
                  <a:srgbClr val="4E5A57"/>
                </a:solidFill>
                <a:latin typeface="Calibri" pitchFamily="34" charset="0"/>
                <a:ea typeface="Calibri" pitchFamily="34" charset="-122"/>
                <a:cs typeface="Calibri" pitchFamily="34" charset="-120"/>
              </a:rPr>
              <a:t>Files uploaded as Project Knowledge</a:t>
            </a:r>
            <a:endParaRPr lang="en-US" sz="1300" dirty="0"/>
          </a:p>
        </p:txBody>
      </p:sp>
      <p:sp>
        <p:nvSpPr>
          <p:cNvPr id="4" name="Shape 2"/>
          <p:cNvSpPr/>
          <p:nvPr/>
        </p:nvSpPr>
        <p:spPr>
          <a:xfrm>
            <a:off x="731520" y="1691640"/>
            <a:ext cx="2510714" cy="1371600"/>
          </a:xfrm>
          <a:prstGeom prst="roundRect">
            <a:avLst>
              <a:gd name="adj" fmla="val 6000"/>
            </a:avLst>
          </a:prstGeom>
          <a:solidFill>
            <a:srgbClr val="E1EAE6"/>
          </a:solidFill>
          <a:ln/>
        </p:spPr>
        <p:txBody>
          <a:bodyPr/>
          <a:lstStyle/>
          <a:p>
            <a:endParaRPr lang="en-US"/>
          </a:p>
        </p:txBody>
      </p:sp>
      <p:sp>
        <p:nvSpPr>
          <p:cNvPr id="5" name="Shape 3"/>
          <p:cNvSpPr/>
          <p:nvPr/>
        </p:nvSpPr>
        <p:spPr>
          <a:xfrm>
            <a:off x="1735417" y="1892808"/>
            <a:ext cx="502920" cy="502920"/>
          </a:xfrm>
          <a:prstGeom prst="ellipse">
            <a:avLst/>
          </a:prstGeom>
          <a:solidFill>
            <a:srgbClr val="1F4741"/>
          </a:solidFill>
          <a:ln/>
        </p:spPr>
        <p:txBody>
          <a:bodyPr/>
          <a:lstStyle/>
          <a:p>
            <a:endParaRPr lang="en-US"/>
          </a:p>
        </p:txBody>
      </p:sp>
      <p:pic>
        <p:nvPicPr>
          <p:cNvPr id="6" name="Image 0" descr="/home/claude/deck/assets/icons/filetext-white.png"/>
          <p:cNvPicPr>
            <a:picLocks noChangeAspect="1"/>
          </p:cNvPicPr>
          <p:nvPr/>
        </p:nvPicPr>
        <p:blipFill>
          <a:blip r:embed="rId3"/>
          <a:stretch>
            <a:fillRect/>
          </a:stretch>
        </p:blipFill>
        <p:spPr>
          <a:xfrm>
            <a:off x="1856118" y="2013509"/>
            <a:ext cx="261518" cy="261518"/>
          </a:xfrm>
          <a:prstGeom prst="rect">
            <a:avLst/>
          </a:prstGeom>
        </p:spPr>
      </p:pic>
      <p:sp>
        <p:nvSpPr>
          <p:cNvPr id="7" name="Text 4"/>
          <p:cNvSpPr/>
          <p:nvPr/>
        </p:nvSpPr>
        <p:spPr>
          <a:xfrm>
            <a:off x="822960" y="2496312"/>
            <a:ext cx="2327834" cy="502920"/>
          </a:xfrm>
          <a:prstGeom prst="rect">
            <a:avLst/>
          </a:prstGeom>
          <a:noFill/>
          <a:ln/>
        </p:spPr>
        <p:txBody>
          <a:bodyPr wrap="square" rtlCol="0" anchor="t"/>
          <a:lstStyle/>
          <a:p>
            <a:pPr marL="0" indent="0" algn="ctr">
              <a:buNone/>
            </a:pPr>
            <a:r>
              <a:rPr lang="en-US" sz="1150" b="1" dirty="0">
                <a:solidFill>
                  <a:srgbClr val="14322D"/>
                </a:solidFill>
                <a:latin typeface="Calibri" pitchFamily="34" charset="0"/>
                <a:ea typeface="Calibri" pitchFamily="34" charset="-122"/>
                <a:cs typeface="Calibri" pitchFamily="34" charset="-120"/>
              </a:rPr>
              <a:t>Product overview</a:t>
            </a:r>
            <a:endParaRPr lang="en-US" sz="1150" dirty="0"/>
          </a:p>
        </p:txBody>
      </p:sp>
      <p:sp>
        <p:nvSpPr>
          <p:cNvPr id="8" name="Shape 5"/>
          <p:cNvSpPr/>
          <p:nvPr/>
        </p:nvSpPr>
        <p:spPr>
          <a:xfrm>
            <a:off x="3470834" y="1691640"/>
            <a:ext cx="2510714" cy="1371600"/>
          </a:xfrm>
          <a:prstGeom prst="roundRect">
            <a:avLst>
              <a:gd name="adj" fmla="val 6000"/>
            </a:avLst>
          </a:prstGeom>
          <a:solidFill>
            <a:srgbClr val="E1EAE6"/>
          </a:solidFill>
          <a:ln/>
        </p:spPr>
        <p:txBody>
          <a:bodyPr/>
          <a:lstStyle/>
          <a:p>
            <a:endParaRPr lang="en-US"/>
          </a:p>
        </p:txBody>
      </p:sp>
      <p:sp>
        <p:nvSpPr>
          <p:cNvPr id="9" name="Shape 6"/>
          <p:cNvSpPr/>
          <p:nvPr/>
        </p:nvSpPr>
        <p:spPr>
          <a:xfrm>
            <a:off x="4474731" y="1892808"/>
            <a:ext cx="502920" cy="502920"/>
          </a:xfrm>
          <a:prstGeom prst="ellipse">
            <a:avLst/>
          </a:prstGeom>
          <a:solidFill>
            <a:srgbClr val="1F4741"/>
          </a:solidFill>
          <a:ln/>
        </p:spPr>
        <p:txBody>
          <a:bodyPr/>
          <a:lstStyle/>
          <a:p>
            <a:endParaRPr lang="en-US"/>
          </a:p>
        </p:txBody>
      </p:sp>
      <p:pic>
        <p:nvPicPr>
          <p:cNvPr id="10" name="Image 1" descr="/home/claude/deck/assets/icons/filetext-white.png"/>
          <p:cNvPicPr>
            <a:picLocks noChangeAspect="1"/>
          </p:cNvPicPr>
          <p:nvPr/>
        </p:nvPicPr>
        <p:blipFill>
          <a:blip r:embed="rId3"/>
          <a:stretch>
            <a:fillRect/>
          </a:stretch>
        </p:blipFill>
        <p:spPr>
          <a:xfrm>
            <a:off x="4595432" y="2013509"/>
            <a:ext cx="261518" cy="261518"/>
          </a:xfrm>
          <a:prstGeom prst="rect">
            <a:avLst/>
          </a:prstGeom>
        </p:spPr>
      </p:pic>
      <p:sp>
        <p:nvSpPr>
          <p:cNvPr id="11" name="Text 7"/>
          <p:cNvSpPr/>
          <p:nvPr/>
        </p:nvSpPr>
        <p:spPr>
          <a:xfrm>
            <a:off x="3562274" y="2496312"/>
            <a:ext cx="2327834" cy="502920"/>
          </a:xfrm>
          <a:prstGeom prst="rect">
            <a:avLst/>
          </a:prstGeom>
          <a:noFill/>
          <a:ln/>
        </p:spPr>
        <p:txBody>
          <a:bodyPr wrap="square" rtlCol="0" anchor="t"/>
          <a:lstStyle/>
          <a:p>
            <a:pPr marL="0" indent="0" algn="ctr">
              <a:buNone/>
            </a:pPr>
            <a:r>
              <a:rPr lang="en-US" sz="1150" b="1" dirty="0">
                <a:solidFill>
                  <a:srgbClr val="14322D"/>
                </a:solidFill>
                <a:latin typeface="Calibri" pitchFamily="34" charset="0"/>
                <a:ea typeface="Calibri" pitchFamily="34" charset="-122"/>
                <a:cs typeface="Calibri" pitchFamily="34" charset="-120"/>
              </a:rPr>
              <a:t>Personas</a:t>
            </a:r>
            <a:endParaRPr lang="en-US" sz="1150" dirty="0"/>
          </a:p>
        </p:txBody>
      </p:sp>
      <p:sp>
        <p:nvSpPr>
          <p:cNvPr id="12" name="Shape 8"/>
          <p:cNvSpPr/>
          <p:nvPr/>
        </p:nvSpPr>
        <p:spPr>
          <a:xfrm>
            <a:off x="6210148" y="1691640"/>
            <a:ext cx="2510714" cy="1371600"/>
          </a:xfrm>
          <a:prstGeom prst="roundRect">
            <a:avLst>
              <a:gd name="adj" fmla="val 6000"/>
            </a:avLst>
          </a:prstGeom>
          <a:solidFill>
            <a:srgbClr val="E1EAE6"/>
          </a:solidFill>
          <a:ln/>
        </p:spPr>
        <p:txBody>
          <a:bodyPr/>
          <a:lstStyle/>
          <a:p>
            <a:endParaRPr lang="en-US"/>
          </a:p>
        </p:txBody>
      </p:sp>
      <p:sp>
        <p:nvSpPr>
          <p:cNvPr id="13" name="Shape 9"/>
          <p:cNvSpPr/>
          <p:nvPr/>
        </p:nvSpPr>
        <p:spPr>
          <a:xfrm>
            <a:off x="7214045" y="1892808"/>
            <a:ext cx="502920" cy="502920"/>
          </a:xfrm>
          <a:prstGeom prst="ellipse">
            <a:avLst/>
          </a:prstGeom>
          <a:solidFill>
            <a:srgbClr val="1F4741"/>
          </a:solidFill>
          <a:ln/>
        </p:spPr>
        <p:txBody>
          <a:bodyPr/>
          <a:lstStyle/>
          <a:p>
            <a:endParaRPr lang="en-US"/>
          </a:p>
        </p:txBody>
      </p:sp>
      <p:pic>
        <p:nvPicPr>
          <p:cNvPr id="14" name="Image 2" descr="/home/claude/deck/assets/icons/filetext-white.png"/>
          <p:cNvPicPr>
            <a:picLocks noChangeAspect="1"/>
          </p:cNvPicPr>
          <p:nvPr/>
        </p:nvPicPr>
        <p:blipFill>
          <a:blip r:embed="rId3"/>
          <a:stretch>
            <a:fillRect/>
          </a:stretch>
        </p:blipFill>
        <p:spPr>
          <a:xfrm>
            <a:off x="7334745" y="2013509"/>
            <a:ext cx="261518" cy="261518"/>
          </a:xfrm>
          <a:prstGeom prst="rect">
            <a:avLst/>
          </a:prstGeom>
        </p:spPr>
      </p:pic>
      <p:sp>
        <p:nvSpPr>
          <p:cNvPr id="15" name="Text 10"/>
          <p:cNvSpPr/>
          <p:nvPr/>
        </p:nvSpPr>
        <p:spPr>
          <a:xfrm>
            <a:off x="6301588" y="2496312"/>
            <a:ext cx="2327834" cy="502920"/>
          </a:xfrm>
          <a:prstGeom prst="rect">
            <a:avLst/>
          </a:prstGeom>
          <a:noFill/>
          <a:ln/>
        </p:spPr>
        <p:txBody>
          <a:bodyPr wrap="square" rtlCol="0" anchor="t"/>
          <a:lstStyle/>
          <a:p>
            <a:pPr marL="0" indent="0" algn="ctr">
              <a:buNone/>
            </a:pPr>
            <a:r>
              <a:rPr lang="en-US" sz="1150" b="1" dirty="0">
                <a:solidFill>
                  <a:srgbClr val="14322D"/>
                </a:solidFill>
                <a:latin typeface="Calibri" pitchFamily="34" charset="0"/>
                <a:ea typeface="Calibri" pitchFamily="34" charset="-122"/>
                <a:cs typeface="Calibri" pitchFamily="34" charset="-120"/>
              </a:rPr>
              <a:t>Journey</a:t>
            </a:r>
            <a:endParaRPr lang="en-US" sz="1150" dirty="0"/>
          </a:p>
        </p:txBody>
      </p:sp>
      <p:sp>
        <p:nvSpPr>
          <p:cNvPr id="16" name="Shape 11"/>
          <p:cNvSpPr/>
          <p:nvPr/>
        </p:nvSpPr>
        <p:spPr>
          <a:xfrm>
            <a:off x="8949461" y="1691640"/>
            <a:ext cx="2510714" cy="1371600"/>
          </a:xfrm>
          <a:prstGeom prst="roundRect">
            <a:avLst>
              <a:gd name="adj" fmla="val 6000"/>
            </a:avLst>
          </a:prstGeom>
          <a:solidFill>
            <a:srgbClr val="E1EAE6"/>
          </a:solidFill>
          <a:ln/>
        </p:spPr>
        <p:txBody>
          <a:bodyPr/>
          <a:lstStyle/>
          <a:p>
            <a:endParaRPr lang="en-US"/>
          </a:p>
        </p:txBody>
      </p:sp>
      <p:sp>
        <p:nvSpPr>
          <p:cNvPr id="17" name="Shape 12"/>
          <p:cNvSpPr/>
          <p:nvPr/>
        </p:nvSpPr>
        <p:spPr>
          <a:xfrm>
            <a:off x="9953358" y="1892808"/>
            <a:ext cx="502920" cy="502920"/>
          </a:xfrm>
          <a:prstGeom prst="ellipse">
            <a:avLst/>
          </a:prstGeom>
          <a:solidFill>
            <a:srgbClr val="1F4741"/>
          </a:solidFill>
          <a:ln/>
        </p:spPr>
        <p:txBody>
          <a:bodyPr/>
          <a:lstStyle/>
          <a:p>
            <a:endParaRPr lang="en-US"/>
          </a:p>
        </p:txBody>
      </p:sp>
      <p:pic>
        <p:nvPicPr>
          <p:cNvPr id="18" name="Image 3" descr="/home/claude/deck/assets/icons/filetext-white.png"/>
          <p:cNvPicPr>
            <a:picLocks noChangeAspect="1"/>
          </p:cNvPicPr>
          <p:nvPr/>
        </p:nvPicPr>
        <p:blipFill>
          <a:blip r:embed="rId3"/>
          <a:stretch>
            <a:fillRect/>
          </a:stretch>
        </p:blipFill>
        <p:spPr>
          <a:xfrm>
            <a:off x="10074059" y="2013509"/>
            <a:ext cx="261518" cy="261518"/>
          </a:xfrm>
          <a:prstGeom prst="rect">
            <a:avLst/>
          </a:prstGeom>
        </p:spPr>
      </p:pic>
      <p:sp>
        <p:nvSpPr>
          <p:cNvPr id="19" name="Text 13"/>
          <p:cNvSpPr/>
          <p:nvPr/>
        </p:nvSpPr>
        <p:spPr>
          <a:xfrm>
            <a:off x="9040901" y="2496312"/>
            <a:ext cx="2327834" cy="502920"/>
          </a:xfrm>
          <a:prstGeom prst="rect">
            <a:avLst/>
          </a:prstGeom>
          <a:noFill/>
          <a:ln/>
        </p:spPr>
        <p:txBody>
          <a:bodyPr wrap="square" rtlCol="0" anchor="t"/>
          <a:lstStyle/>
          <a:p>
            <a:pPr marL="0" indent="0" algn="ctr">
              <a:buNone/>
            </a:pPr>
            <a:r>
              <a:rPr lang="en-US" sz="1150" b="1" dirty="0">
                <a:solidFill>
                  <a:srgbClr val="14322D"/>
                </a:solidFill>
                <a:latin typeface="Calibri" pitchFamily="34" charset="0"/>
                <a:ea typeface="Calibri" pitchFamily="34" charset="-122"/>
                <a:cs typeface="Calibri" pitchFamily="34" charset="-120"/>
              </a:rPr>
              <a:t>Features and requirements</a:t>
            </a:r>
            <a:endParaRPr lang="en-US" sz="1150" dirty="0"/>
          </a:p>
        </p:txBody>
      </p:sp>
      <p:sp>
        <p:nvSpPr>
          <p:cNvPr id="20" name="Shape 14"/>
          <p:cNvSpPr/>
          <p:nvPr/>
        </p:nvSpPr>
        <p:spPr>
          <a:xfrm>
            <a:off x="731520" y="3291840"/>
            <a:ext cx="2510714" cy="1371600"/>
          </a:xfrm>
          <a:prstGeom prst="roundRect">
            <a:avLst>
              <a:gd name="adj" fmla="val 6000"/>
            </a:avLst>
          </a:prstGeom>
          <a:solidFill>
            <a:srgbClr val="E1EAE6"/>
          </a:solidFill>
          <a:ln/>
        </p:spPr>
        <p:txBody>
          <a:bodyPr/>
          <a:lstStyle/>
          <a:p>
            <a:endParaRPr lang="en-US"/>
          </a:p>
        </p:txBody>
      </p:sp>
      <p:sp>
        <p:nvSpPr>
          <p:cNvPr id="21" name="Shape 15"/>
          <p:cNvSpPr/>
          <p:nvPr/>
        </p:nvSpPr>
        <p:spPr>
          <a:xfrm>
            <a:off x="1735417" y="3493008"/>
            <a:ext cx="502920" cy="502920"/>
          </a:xfrm>
          <a:prstGeom prst="ellipse">
            <a:avLst/>
          </a:prstGeom>
          <a:solidFill>
            <a:srgbClr val="1F4741"/>
          </a:solidFill>
          <a:ln/>
        </p:spPr>
        <p:txBody>
          <a:bodyPr/>
          <a:lstStyle/>
          <a:p>
            <a:endParaRPr lang="en-US"/>
          </a:p>
        </p:txBody>
      </p:sp>
      <p:pic>
        <p:nvPicPr>
          <p:cNvPr id="22" name="Image 4" descr="/home/claude/deck/assets/icons/filetext-white.png"/>
          <p:cNvPicPr>
            <a:picLocks noChangeAspect="1"/>
          </p:cNvPicPr>
          <p:nvPr/>
        </p:nvPicPr>
        <p:blipFill>
          <a:blip r:embed="rId3"/>
          <a:stretch>
            <a:fillRect/>
          </a:stretch>
        </p:blipFill>
        <p:spPr>
          <a:xfrm>
            <a:off x="1856118" y="3613709"/>
            <a:ext cx="261518" cy="261518"/>
          </a:xfrm>
          <a:prstGeom prst="rect">
            <a:avLst/>
          </a:prstGeom>
        </p:spPr>
      </p:pic>
      <p:sp>
        <p:nvSpPr>
          <p:cNvPr id="23" name="Text 16"/>
          <p:cNvSpPr/>
          <p:nvPr/>
        </p:nvSpPr>
        <p:spPr>
          <a:xfrm>
            <a:off x="822960" y="4096512"/>
            <a:ext cx="2327834" cy="502920"/>
          </a:xfrm>
          <a:prstGeom prst="rect">
            <a:avLst/>
          </a:prstGeom>
          <a:noFill/>
          <a:ln/>
        </p:spPr>
        <p:txBody>
          <a:bodyPr wrap="square" rtlCol="0" anchor="t"/>
          <a:lstStyle/>
          <a:p>
            <a:pPr marL="0" indent="0" algn="ctr">
              <a:buNone/>
            </a:pPr>
            <a:r>
              <a:rPr lang="en-US" sz="1150" b="1" dirty="0">
                <a:solidFill>
                  <a:srgbClr val="14322D"/>
                </a:solidFill>
                <a:latin typeface="Calibri" pitchFamily="34" charset="0"/>
                <a:ea typeface="Calibri" pitchFamily="34" charset="-122"/>
                <a:cs typeface="Calibri" pitchFamily="34" charset="-120"/>
              </a:rPr>
              <a:t>Domain model</a:t>
            </a:r>
            <a:endParaRPr lang="en-US" sz="1150" dirty="0"/>
          </a:p>
        </p:txBody>
      </p:sp>
      <p:sp>
        <p:nvSpPr>
          <p:cNvPr id="24" name="Shape 17"/>
          <p:cNvSpPr/>
          <p:nvPr/>
        </p:nvSpPr>
        <p:spPr>
          <a:xfrm>
            <a:off x="3470834" y="3291840"/>
            <a:ext cx="2510714" cy="1371600"/>
          </a:xfrm>
          <a:prstGeom prst="roundRect">
            <a:avLst>
              <a:gd name="adj" fmla="val 6000"/>
            </a:avLst>
          </a:prstGeom>
          <a:solidFill>
            <a:srgbClr val="E1EAE6"/>
          </a:solidFill>
          <a:ln/>
        </p:spPr>
        <p:txBody>
          <a:bodyPr/>
          <a:lstStyle/>
          <a:p>
            <a:endParaRPr lang="en-US"/>
          </a:p>
        </p:txBody>
      </p:sp>
      <p:sp>
        <p:nvSpPr>
          <p:cNvPr id="25" name="Shape 18"/>
          <p:cNvSpPr/>
          <p:nvPr/>
        </p:nvSpPr>
        <p:spPr>
          <a:xfrm>
            <a:off x="4474731" y="3493008"/>
            <a:ext cx="502920" cy="502920"/>
          </a:xfrm>
          <a:prstGeom prst="ellipse">
            <a:avLst/>
          </a:prstGeom>
          <a:solidFill>
            <a:srgbClr val="1F4741"/>
          </a:solidFill>
          <a:ln/>
        </p:spPr>
        <p:txBody>
          <a:bodyPr/>
          <a:lstStyle/>
          <a:p>
            <a:endParaRPr lang="en-US"/>
          </a:p>
        </p:txBody>
      </p:sp>
      <p:pic>
        <p:nvPicPr>
          <p:cNvPr id="26" name="Image 5" descr="/home/claude/deck/assets/icons/filetext-white.png"/>
          <p:cNvPicPr>
            <a:picLocks noChangeAspect="1"/>
          </p:cNvPicPr>
          <p:nvPr/>
        </p:nvPicPr>
        <p:blipFill>
          <a:blip r:embed="rId3"/>
          <a:stretch>
            <a:fillRect/>
          </a:stretch>
        </p:blipFill>
        <p:spPr>
          <a:xfrm>
            <a:off x="4595432" y="3613709"/>
            <a:ext cx="261518" cy="261518"/>
          </a:xfrm>
          <a:prstGeom prst="rect">
            <a:avLst/>
          </a:prstGeom>
        </p:spPr>
      </p:pic>
      <p:sp>
        <p:nvSpPr>
          <p:cNvPr id="27" name="Text 19"/>
          <p:cNvSpPr/>
          <p:nvPr/>
        </p:nvSpPr>
        <p:spPr>
          <a:xfrm>
            <a:off x="3562274" y="4096512"/>
            <a:ext cx="2327834" cy="502920"/>
          </a:xfrm>
          <a:prstGeom prst="rect">
            <a:avLst/>
          </a:prstGeom>
          <a:noFill/>
          <a:ln/>
        </p:spPr>
        <p:txBody>
          <a:bodyPr wrap="square" rtlCol="0" anchor="t"/>
          <a:lstStyle/>
          <a:p>
            <a:pPr marL="0" indent="0" algn="ctr">
              <a:buNone/>
            </a:pPr>
            <a:r>
              <a:rPr lang="en-US" sz="1150" b="1" dirty="0">
                <a:solidFill>
                  <a:srgbClr val="14322D"/>
                </a:solidFill>
                <a:latin typeface="Calibri" pitchFamily="34" charset="0"/>
                <a:ea typeface="Calibri" pitchFamily="34" charset="-122"/>
                <a:cs typeface="Calibri" pitchFamily="34" charset="-120"/>
              </a:rPr>
              <a:t>Safety guidance</a:t>
            </a:r>
            <a:endParaRPr lang="en-US" sz="1150" dirty="0"/>
          </a:p>
        </p:txBody>
      </p:sp>
      <p:sp>
        <p:nvSpPr>
          <p:cNvPr id="28" name="Shape 20"/>
          <p:cNvSpPr/>
          <p:nvPr/>
        </p:nvSpPr>
        <p:spPr>
          <a:xfrm>
            <a:off x="6210148" y="3291840"/>
            <a:ext cx="2510714" cy="1371600"/>
          </a:xfrm>
          <a:prstGeom prst="roundRect">
            <a:avLst>
              <a:gd name="adj" fmla="val 6000"/>
            </a:avLst>
          </a:prstGeom>
          <a:solidFill>
            <a:srgbClr val="E1EAE6"/>
          </a:solidFill>
          <a:ln/>
        </p:spPr>
        <p:txBody>
          <a:bodyPr/>
          <a:lstStyle/>
          <a:p>
            <a:endParaRPr lang="en-US"/>
          </a:p>
        </p:txBody>
      </p:sp>
      <p:sp>
        <p:nvSpPr>
          <p:cNvPr id="29" name="Shape 21"/>
          <p:cNvSpPr/>
          <p:nvPr/>
        </p:nvSpPr>
        <p:spPr>
          <a:xfrm>
            <a:off x="7214045" y="3493008"/>
            <a:ext cx="502920" cy="502920"/>
          </a:xfrm>
          <a:prstGeom prst="ellipse">
            <a:avLst/>
          </a:prstGeom>
          <a:solidFill>
            <a:srgbClr val="1F4741"/>
          </a:solidFill>
          <a:ln/>
        </p:spPr>
        <p:txBody>
          <a:bodyPr/>
          <a:lstStyle/>
          <a:p>
            <a:endParaRPr lang="en-US"/>
          </a:p>
        </p:txBody>
      </p:sp>
      <p:pic>
        <p:nvPicPr>
          <p:cNvPr id="30" name="Image 6" descr="/home/claude/deck/assets/icons/filetext-white.png"/>
          <p:cNvPicPr>
            <a:picLocks noChangeAspect="1"/>
          </p:cNvPicPr>
          <p:nvPr/>
        </p:nvPicPr>
        <p:blipFill>
          <a:blip r:embed="rId3"/>
          <a:stretch>
            <a:fillRect/>
          </a:stretch>
        </p:blipFill>
        <p:spPr>
          <a:xfrm>
            <a:off x="7334745" y="3613709"/>
            <a:ext cx="261518" cy="261518"/>
          </a:xfrm>
          <a:prstGeom prst="rect">
            <a:avLst/>
          </a:prstGeom>
        </p:spPr>
      </p:pic>
      <p:sp>
        <p:nvSpPr>
          <p:cNvPr id="31" name="Text 22"/>
          <p:cNvSpPr/>
          <p:nvPr/>
        </p:nvSpPr>
        <p:spPr>
          <a:xfrm>
            <a:off x="6301588" y="4096512"/>
            <a:ext cx="2327834" cy="502920"/>
          </a:xfrm>
          <a:prstGeom prst="rect">
            <a:avLst/>
          </a:prstGeom>
          <a:noFill/>
          <a:ln/>
        </p:spPr>
        <p:txBody>
          <a:bodyPr wrap="square" rtlCol="0" anchor="t"/>
          <a:lstStyle/>
          <a:p>
            <a:pPr marL="0" indent="0" algn="ctr">
              <a:buNone/>
            </a:pPr>
            <a:r>
              <a:rPr lang="en-US" sz="1150" b="1" dirty="0">
                <a:solidFill>
                  <a:srgbClr val="14322D"/>
                </a:solidFill>
                <a:latin typeface="Calibri" pitchFamily="34" charset="0"/>
                <a:ea typeface="Calibri" pitchFamily="34" charset="-122"/>
                <a:cs typeface="Calibri" pitchFamily="34" charset="-120"/>
              </a:rPr>
              <a:t>Demo data</a:t>
            </a:r>
            <a:endParaRPr lang="en-US" sz="1150" dirty="0"/>
          </a:p>
        </p:txBody>
      </p:sp>
      <p:sp>
        <p:nvSpPr>
          <p:cNvPr id="32" name="Shape 23"/>
          <p:cNvSpPr/>
          <p:nvPr/>
        </p:nvSpPr>
        <p:spPr>
          <a:xfrm>
            <a:off x="8949461" y="3291840"/>
            <a:ext cx="2510714" cy="1371600"/>
          </a:xfrm>
          <a:prstGeom prst="roundRect">
            <a:avLst>
              <a:gd name="adj" fmla="val 6000"/>
            </a:avLst>
          </a:prstGeom>
          <a:solidFill>
            <a:srgbClr val="E1EAE6"/>
          </a:solidFill>
          <a:ln/>
        </p:spPr>
        <p:txBody>
          <a:bodyPr/>
          <a:lstStyle/>
          <a:p>
            <a:endParaRPr lang="en-US"/>
          </a:p>
        </p:txBody>
      </p:sp>
      <p:sp>
        <p:nvSpPr>
          <p:cNvPr id="33" name="Shape 24"/>
          <p:cNvSpPr/>
          <p:nvPr/>
        </p:nvSpPr>
        <p:spPr>
          <a:xfrm>
            <a:off x="9953358" y="3493008"/>
            <a:ext cx="502920" cy="502920"/>
          </a:xfrm>
          <a:prstGeom prst="ellipse">
            <a:avLst/>
          </a:prstGeom>
          <a:solidFill>
            <a:srgbClr val="1F4741"/>
          </a:solidFill>
          <a:ln/>
        </p:spPr>
        <p:txBody>
          <a:bodyPr/>
          <a:lstStyle/>
          <a:p>
            <a:endParaRPr lang="en-US"/>
          </a:p>
        </p:txBody>
      </p:sp>
      <p:pic>
        <p:nvPicPr>
          <p:cNvPr id="34" name="Image 7" descr="/home/claude/deck/assets/icons/filetext-white.png"/>
          <p:cNvPicPr>
            <a:picLocks noChangeAspect="1"/>
          </p:cNvPicPr>
          <p:nvPr/>
        </p:nvPicPr>
        <p:blipFill>
          <a:blip r:embed="rId3"/>
          <a:stretch>
            <a:fillRect/>
          </a:stretch>
        </p:blipFill>
        <p:spPr>
          <a:xfrm>
            <a:off x="10074059" y="3613709"/>
            <a:ext cx="261518" cy="261518"/>
          </a:xfrm>
          <a:prstGeom prst="rect">
            <a:avLst/>
          </a:prstGeom>
        </p:spPr>
      </p:pic>
      <p:sp>
        <p:nvSpPr>
          <p:cNvPr id="35" name="Text 25"/>
          <p:cNvSpPr/>
          <p:nvPr/>
        </p:nvSpPr>
        <p:spPr>
          <a:xfrm>
            <a:off x="9040901" y="4096512"/>
            <a:ext cx="2327834" cy="502920"/>
          </a:xfrm>
          <a:prstGeom prst="rect">
            <a:avLst/>
          </a:prstGeom>
          <a:noFill/>
          <a:ln/>
        </p:spPr>
        <p:txBody>
          <a:bodyPr wrap="square" rtlCol="0" anchor="t"/>
          <a:lstStyle/>
          <a:p>
            <a:pPr marL="0" indent="0" algn="ctr">
              <a:buNone/>
            </a:pPr>
            <a:r>
              <a:rPr lang="en-US" sz="1150" b="1" dirty="0">
                <a:solidFill>
                  <a:srgbClr val="14322D"/>
                </a:solidFill>
                <a:latin typeface="Calibri" pitchFamily="34" charset="0"/>
                <a:ea typeface="Calibri" pitchFamily="34" charset="-122"/>
                <a:cs typeface="Calibri" pitchFamily="34" charset="-120"/>
              </a:rPr>
              <a:t>Acceptance criteria</a:t>
            </a:r>
            <a:endParaRPr lang="en-US" sz="1150" dirty="0"/>
          </a:p>
        </p:txBody>
      </p:sp>
      <p:sp>
        <p:nvSpPr>
          <p:cNvPr id="36" name="Text 26"/>
          <p:cNvSpPr/>
          <p:nvPr/>
        </p:nvSpPr>
        <p:spPr>
          <a:xfrm>
            <a:off x="731520" y="6355080"/>
            <a:ext cx="7315200" cy="320040"/>
          </a:xfrm>
          <a:prstGeom prst="rect">
            <a:avLst/>
          </a:prstGeom>
          <a:noFill/>
          <a:ln/>
        </p:spPr>
        <p:txBody>
          <a:bodyPr wrap="square" rtlCol="0" anchor="ctr"/>
          <a:lstStyle/>
          <a:p>
            <a:pPr marL="0" indent="0" algn="l">
              <a:buNone/>
            </a:pPr>
            <a:r>
              <a:rPr lang="en-US" sz="1000" dirty="0">
                <a:solidFill>
                  <a:srgbClr val="4E5A57"/>
                </a:solidFill>
                <a:latin typeface="Calibri" pitchFamily="34" charset="0"/>
                <a:ea typeface="Calibri" pitchFamily="34" charset="-122"/>
                <a:cs typeface="Calibri" pitchFamily="34" charset="-120"/>
              </a:rPr>
              <a:t>Beyond the Chat — Backup</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8">
    <p:bg>
      <p:bgPr>
        <a:solidFill>
          <a:srgbClr val="E1EAE6"/>
        </a:solidFill>
        <a:effectLst/>
      </p:bgPr>
    </p:bg>
    <p:spTree>
      <p:nvGrpSpPr>
        <p:cNvPr id="1" name=""/>
        <p:cNvGrpSpPr/>
        <p:nvPr/>
      </p:nvGrpSpPr>
      <p:grpSpPr>
        <a:xfrm>
          <a:off x="0" y="0"/>
          <a:ext cx="0" cy="0"/>
          <a:chOff x="0" y="0"/>
          <a:chExt cx="0" cy="0"/>
        </a:xfrm>
      </p:grpSpPr>
      <p:sp>
        <p:nvSpPr>
          <p:cNvPr id="2" name="Text 0"/>
          <p:cNvSpPr/>
          <p:nvPr/>
        </p:nvSpPr>
        <p:spPr>
          <a:xfrm>
            <a:off x="0" y="2743200"/>
            <a:ext cx="12191695" cy="731520"/>
          </a:xfrm>
          <a:prstGeom prst="rect">
            <a:avLst/>
          </a:prstGeom>
          <a:noFill/>
          <a:ln/>
        </p:spPr>
        <p:txBody>
          <a:bodyPr wrap="square" rtlCol="0" anchor="ctr"/>
          <a:lstStyle/>
          <a:p>
            <a:pPr marL="0" indent="0" algn="ctr">
              <a:buNone/>
            </a:pPr>
            <a:r>
              <a:rPr lang="en-US" sz="3400" b="1" dirty="0">
                <a:solidFill>
                  <a:srgbClr val="14322D"/>
                </a:solidFill>
                <a:latin typeface="Cambria" pitchFamily="34" charset="0"/>
                <a:ea typeface="Cambria" pitchFamily="34" charset="-122"/>
                <a:cs typeface="Cambria" pitchFamily="34" charset="-120"/>
              </a:rPr>
              <a:t>BACKUP SLIDES</a:t>
            </a:r>
            <a:endParaRPr lang="en-US" sz="3400" dirty="0"/>
          </a:p>
        </p:txBody>
      </p:sp>
      <p:sp>
        <p:nvSpPr>
          <p:cNvPr id="3" name="Text 1"/>
          <p:cNvSpPr/>
          <p:nvPr/>
        </p:nvSpPr>
        <p:spPr>
          <a:xfrm>
            <a:off x="0" y="3520440"/>
            <a:ext cx="12191695" cy="457200"/>
          </a:xfrm>
          <a:prstGeom prst="rect">
            <a:avLst/>
          </a:prstGeom>
          <a:noFill/>
          <a:ln/>
        </p:spPr>
        <p:txBody>
          <a:bodyPr wrap="square" rtlCol="0" anchor="ctr"/>
          <a:lstStyle/>
          <a:p>
            <a:pPr marL="0" indent="0" algn="ctr">
              <a:buNone/>
            </a:pPr>
            <a:r>
              <a:rPr lang="en-US" sz="1500" i="1" dirty="0">
                <a:solidFill>
                  <a:srgbClr val="4E5A57"/>
                </a:solidFill>
                <a:latin typeface="Calibri" pitchFamily="34" charset="0"/>
                <a:ea typeface="Calibri" pitchFamily="34" charset="-122"/>
                <a:cs typeface="Calibri" pitchFamily="34" charset="-120"/>
              </a:rPr>
              <a:t>Use only if needed during the live session.</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411480"/>
            <a:ext cx="10728655" cy="777240"/>
          </a:xfrm>
          <a:prstGeom prst="rect">
            <a:avLst/>
          </a:prstGeom>
          <a:noFill/>
          <a:ln/>
        </p:spPr>
        <p:txBody>
          <a:bodyPr wrap="square" rtlCol="0" anchor="ctr"/>
          <a:lstStyle/>
          <a:p>
            <a:pPr marL="0" indent="0" algn="l">
              <a:buNone/>
            </a:pPr>
            <a:r>
              <a:rPr lang="en-US" sz="3200" b="1" dirty="0">
                <a:solidFill>
                  <a:srgbClr val="14322D"/>
                </a:solidFill>
                <a:latin typeface="Cambria" pitchFamily="34" charset="0"/>
                <a:ea typeface="Cambria" pitchFamily="34" charset="-122"/>
                <a:cs typeface="Cambria" pitchFamily="34" charset="-120"/>
              </a:rPr>
              <a:t>Backup: Completed Artifact</a:t>
            </a:r>
            <a:endParaRPr lang="en-US" sz="3200" dirty="0"/>
          </a:p>
        </p:txBody>
      </p:sp>
      <p:sp>
        <p:nvSpPr>
          <p:cNvPr id="3" name="Text 1"/>
          <p:cNvSpPr/>
          <p:nvPr/>
        </p:nvSpPr>
        <p:spPr>
          <a:xfrm>
            <a:off x="731520" y="1097280"/>
            <a:ext cx="9144000" cy="320040"/>
          </a:xfrm>
          <a:prstGeom prst="rect">
            <a:avLst/>
          </a:prstGeom>
          <a:noFill/>
          <a:ln/>
        </p:spPr>
        <p:txBody>
          <a:bodyPr wrap="square" rtlCol="0" anchor="ctr"/>
          <a:lstStyle/>
          <a:p>
            <a:pPr marL="0" indent="0">
              <a:buNone/>
            </a:pPr>
            <a:r>
              <a:rPr lang="en-US" sz="1300" i="1" dirty="0">
                <a:solidFill>
                  <a:srgbClr val="4E5A57"/>
                </a:solidFill>
                <a:latin typeface="Calibri" pitchFamily="34" charset="0"/>
                <a:ea typeface="Calibri" pitchFamily="34" charset="-122"/>
                <a:cs typeface="Calibri" pitchFamily="34" charset="-120"/>
              </a:rPr>
              <a:t>Use this slide only if the live Artifact does not load.</a:t>
            </a:r>
            <a:endParaRPr lang="en-US" sz="1300" dirty="0"/>
          </a:p>
        </p:txBody>
      </p:sp>
      <p:sp>
        <p:nvSpPr>
          <p:cNvPr id="9" name="Text 6"/>
          <p:cNvSpPr/>
          <p:nvPr/>
        </p:nvSpPr>
        <p:spPr>
          <a:xfrm>
            <a:off x="731520" y="6355080"/>
            <a:ext cx="7315200" cy="320040"/>
          </a:xfrm>
          <a:prstGeom prst="rect">
            <a:avLst/>
          </a:prstGeom>
          <a:noFill/>
          <a:ln/>
        </p:spPr>
        <p:txBody>
          <a:bodyPr wrap="square" rtlCol="0" anchor="ctr"/>
          <a:lstStyle/>
          <a:p>
            <a:pPr marL="0" indent="0" algn="l">
              <a:buNone/>
            </a:pPr>
            <a:r>
              <a:rPr lang="en-US" sz="1000" dirty="0">
                <a:solidFill>
                  <a:srgbClr val="4E5A57"/>
                </a:solidFill>
                <a:latin typeface="Calibri" pitchFamily="34" charset="0"/>
                <a:ea typeface="Calibri" pitchFamily="34" charset="-122"/>
                <a:cs typeface="Calibri" pitchFamily="34" charset="-120"/>
              </a:rPr>
              <a:t>Beyond the Chat — Backup</a:t>
            </a:r>
            <a:endParaRPr lang="en-US" sz="1000" dirty="0"/>
          </a:p>
        </p:txBody>
      </p:sp>
      <p:pic>
        <p:nvPicPr>
          <p:cNvPr id="11" name="Picture 10">
            <a:extLst>
              <a:ext uri="{FF2B5EF4-FFF2-40B4-BE49-F238E27FC236}">
                <a16:creationId xmlns:a16="http://schemas.microsoft.com/office/drawing/2014/main" id="{D3735A20-8C24-C430-63AA-7C85A30ACBDA}"/>
              </a:ext>
            </a:extLst>
          </p:cNvPr>
          <p:cNvPicPr>
            <a:picLocks noChangeAspect="1"/>
          </p:cNvPicPr>
          <p:nvPr/>
        </p:nvPicPr>
        <p:blipFill>
          <a:blip r:embed="rId3"/>
          <a:stretch>
            <a:fillRect/>
          </a:stretch>
        </p:blipFill>
        <p:spPr>
          <a:xfrm>
            <a:off x="5335676" y="1029231"/>
            <a:ext cx="6591326" cy="562277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411480"/>
            <a:ext cx="10728655" cy="777240"/>
          </a:xfrm>
          <a:prstGeom prst="rect">
            <a:avLst/>
          </a:prstGeom>
          <a:noFill/>
          <a:ln/>
        </p:spPr>
        <p:txBody>
          <a:bodyPr wrap="square" rtlCol="0" anchor="ctr"/>
          <a:lstStyle/>
          <a:p>
            <a:r>
              <a:rPr lang="en-US" sz="3200" b="1" dirty="0">
                <a:solidFill>
                  <a:srgbClr val="14322D"/>
                </a:solidFill>
                <a:latin typeface="Cambria" pitchFamily="34" charset="0"/>
                <a:ea typeface="Cambria" pitchFamily="34" charset="-122"/>
                <a:cs typeface="Cambria" pitchFamily="34" charset="-120"/>
              </a:rPr>
              <a:t>Backup: Completed Artifact</a:t>
            </a:r>
            <a:endParaRPr lang="en-US" sz="3200" dirty="0"/>
          </a:p>
        </p:txBody>
      </p:sp>
      <p:sp>
        <p:nvSpPr>
          <p:cNvPr id="3" name="Text 1"/>
          <p:cNvSpPr/>
          <p:nvPr/>
        </p:nvSpPr>
        <p:spPr>
          <a:xfrm>
            <a:off x="731520" y="1097280"/>
            <a:ext cx="9144000" cy="320040"/>
          </a:xfrm>
          <a:prstGeom prst="rect">
            <a:avLst/>
          </a:prstGeom>
          <a:noFill/>
          <a:ln/>
        </p:spPr>
        <p:txBody>
          <a:bodyPr wrap="square" rtlCol="0" anchor="ctr"/>
          <a:lstStyle/>
          <a:p>
            <a:pPr marL="0" indent="0">
              <a:buNone/>
            </a:pPr>
            <a:r>
              <a:rPr lang="en-US" sz="1300" i="1" dirty="0">
                <a:solidFill>
                  <a:srgbClr val="4E5A57"/>
                </a:solidFill>
                <a:latin typeface="Calibri" pitchFamily="34" charset="0"/>
                <a:ea typeface="Calibri" pitchFamily="34" charset="-122"/>
                <a:cs typeface="Calibri" pitchFamily="34" charset="-120"/>
              </a:rPr>
              <a:t>Use this slide only if the live enhancement takes too long.</a:t>
            </a:r>
            <a:endParaRPr lang="en-US" sz="1300" dirty="0"/>
          </a:p>
        </p:txBody>
      </p:sp>
      <p:sp>
        <p:nvSpPr>
          <p:cNvPr id="9" name="Text 6"/>
          <p:cNvSpPr/>
          <p:nvPr/>
        </p:nvSpPr>
        <p:spPr>
          <a:xfrm>
            <a:off x="731520" y="6355080"/>
            <a:ext cx="7315200" cy="320040"/>
          </a:xfrm>
          <a:prstGeom prst="rect">
            <a:avLst/>
          </a:prstGeom>
          <a:noFill/>
          <a:ln/>
        </p:spPr>
        <p:txBody>
          <a:bodyPr wrap="square" rtlCol="0" anchor="ctr"/>
          <a:lstStyle/>
          <a:p>
            <a:pPr marL="0" indent="0" algn="l">
              <a:buNone/>
            </a:pPr>
            <a:r>
              <a:rPr lang="en-US" sz="1000" dirty="0">
                <a:solidFill>
                  <a:srgbClr val="4E5A57"/>
                </a:solidFill>
                <a:latin typeface="Calibri" pitchFamily="34" charset="0"/>
                <a:ea typeface="Calibri" pitchFamily="34" charset="-122"/>
                <a:cs typeface="Calibri" pitchFamily="34" charset="-120"/>
              </a:rPr>
              <a:t>Beyond the Chat — Backup</a:t>
            </a:r>
            <a:endParaRPr lang="en-US" sz="1000" dirty="0"/>
          </a:p>
        </p:txBody>
      </p:sp>
      <p:pic>
        <p:nvPicPr>
          <p:cNvPr id="11" name="Picture 10">
            <a:extLst>
              <a:ext uri="{FF2B5EF4-FFF2-40B4-BE49-F238E27FC236}">
                <a16:creationId xmlns:a16="http://schemas.microsoft.com/office/drawing/2014/main" id="{7DDCD7FF-1097-BF4B-773F-E0944220CEF4}"/>
              </a:ext>
            </a:extLst>
          </p:cNvPr>
          <p:cNvPicPr>
            <a:picLocks noChangeAspect="1"/>
          </p:cNvPicPr>
          <p:nvPr/>
        </p:nvPicPr>
        <p:blipFill>
          <a:blip r:embed="rId3"/>
          <a:stretch>
            <a:fillRect/>
          </a:stretch>
        </p:blipFill>
        <p:spPr>
          <a:xfrm>
            <a:off x="5397080" y="1097280"/>
            <a:ext cx="6629681" cy="566381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a:extLst>
            <a:ext uri="{FF2B5EF4-FFF2-40B4-BE49-F238E27FC236}">
              <a16:creationId xmlns:a16="http://schemas.microsoft.com/office/drawing/2014/main" id="{095D1058-B4FF-65AE-019C-CEE0EA69AA8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20F1544-8BA2-F6CB-5C27-ABD5711AF253}"/>
              </a:ext>
            </a:extLst>
          </p:cNvPr>
          <p:cNvSpPr/>
          <p:nvPr/>
        </p:nvSpPr>
        <p:spPr>
          <a:xfrm>
            <a:off x="731520" y="411480"/>
            <a:ext cx="10728655" cy="777240"/>
          </a:xfrm>
          <a:prstGeom prst="rect">
            <a:avLst/>
          </a:prstGeom>
          <a:noFill/>
          <a:ln/>
        </p:spPr>
        <p:txBody>
          <a:bodyPr wrap="square" rtlCol="0" anchor="ctr"/>
          <a:lstStyle/>
          <a:p>
            <a:r>
              <a:rPr lang="en-US" sz="3200" b="1" dirty="0">
                <a:solidFill>
                  <a:srgbClr val="14322D"/>
                </a:solidFill>
                <a:latin typeface="Cambria" pitchFamily="34" charset="0"/>
                <a:ea typeface="Cambria" pitchFamily="34" charset="-122"/>
                <a:cs typeface="Cambria" pitchFamily="34" charset="-120"/>
              </a:rPr>
              <a:t>Backup: Completed Artifact</a:t>
            </a:r>
            <a:endParaRPr lang="en-US" sz="3200" dirty="0"/>
          </a:p>
        </p:txBody>
      </p:sp>
      <p:sp>
        <p:nvSpPr>
          <p:cNvPr id="3" name="Text 1">
            <a:extLst>
              <a:ext uri="{FF2B5EF4-FFF2-40B4-BE49-F238E27FC236}">
                <a16:creationId xmlns:a16="http://schemas.microsoft.com/office/drawing/2014/main" id="{54B12B7C-6597-99AD-5314-76BDCEE9C7FC}"/>
              </a:ext>
            </a:extLst>
          </p:cNvPr>
          <p:cNvSpPr/>
          <p:nvPr/>
        </p:nvSpPr>
        <p:spPr>
          <a:xfrm>
            <a:off x="731520" y="1097280"/>
            <a:ext cx="9144000" cy="320040"/>
          </a:xfrm>
          <a:prstGeom prst="rect">
            <a:avLst/>
          </a:prstGeom>
          <a:noFill/>
          <a:ln/>
        </p:spPr>
        <p:txBody>
          <a:bodyPr wrap="square" rtlCol="0" anchor="ctr"/>
          <a:lstStyle/>
          <a:p>
            <a:pPr marL="0" indent="0">
              <a:buNone/>
            </a:pPr>
            <a:r>
              <a:rPr lang="en-US" sz="1300" i="1" dirty="0">
                <a:solidFill>
                  <a:srgbClr val="4E5A57"/>
                </a:solidFill>
                <a:latin typeface="Calibri" pitchFamily="34" charset="0"/>
                <a:ea typeface="Calibri" pitchFamily="34" charset="-122"/>
                <a:cs typeface="Calibri" pitchFamily="34" charset="-120"/>
              </a:rPr>
              <a:t>Use this slide only if the live enhancement takes too long.</a:t>
            </a:r>
            <a:endParaRPr lang="en-US" sz="1300" dirty="0"/>
          </a:p>
        </p:txBody>
      </p:sp>
      <p:sp>
        <p:nvSpPr>
          <p:cNvPr id="9" name="Text 6">
            <a:extLst>
              <a:ext uri="{FF2B5EF4-FFF2-40B4-BE49-F238E27FC236}">
                <a16:creationId xmlns:a16="http://schemas.microsoft.com/office/drawing/2014/main" id="{2A23D67E-DF9B-FB7D-1068-490C8BA7C44A}"/>
              </a:ext>
            </a:extLst>
          </p:cNvPr>
          <p:cNvSpPr/>
          <p:nvPr/>
        </p:nvSpPr>
        <p:spPr>
          <a:xfrm>
            <a:off x="731520" y="6355080"/>
            <a:ext cx="7315200" cy="320040"/>
          </a:xfrm>
          <a:prstGeom prst="rect">
            <a:avLst/>
          </a:prstGeom>
          <a:noFill/>
          <a:ln/>
        </p:spPr>
        <p:txBody>
          <a:bodyPr wrap="square" rtlCol="0" anchor="ctr"/>
          <a:lstStyle/>
          <a:p>
            <a:pPr marL="0" indent="0" algn="l">
              <a:buNone/>
            </a:pPr>
            <a:r>
              <a:rPr lang="en-US" sz="1000" dirty="0">
                <a:solidFill>
                  <a:srgbClr val="4E5A57"/>
                </a:solidFill>
                <a:latin typeface="Calibri" pitchFamily="34" charset="0"/>
                <a:ea typeface="Calibri" pitchFamily="34" charset="-122"/>
                <a:cs typeface="Calibri" pitchFamily="34" charset="-120"/>
              </a:rPr>
              <a:t>Beyond the Chat — Backup</a:t>
            </a:r>
            <a:endParaRPr lang="en-US" sz="1000" dirty="0"/>
          </a:p>
        </p:txBody>
      </p:sp>
      <p:pic>
        <p:nvPicPr>
          <p:cNvPr id="5" name="Picture 4">
            <a:extLst>
              <a:ext uri="{FF2B5EF4-FFF2-40B4-BE49-F238E27FC236}">
                <a16:creationId xmlns:a16="http://schemas.microsoft.com/office/drawing/2014/main" id="{A0C3F7FB-F7E4-72FF-AFCD-338C0D6E86BC}"/>
              </a:ext>
            </a:extLst>
          </p:cNvPr>
          <p:cNvPicPr>
            <a:picLocks noChangeAspect="1"/>
          </p:cNvPicPr>
          <p:nvPr/>
        </p:nvPicPr>
        <p:blipFill>
          <a:blip r:embed="rId3"/>
          <a:stretch>
            <a:fillRect/>
          </a:stretch>
        </p:blipFill>
        <p:spPr>
          <a:xfrm>
            <a:off x="5124658" y="1112260"/>
            <a:ext cx="6956039" cy="5675401"/>
          </a:xfrm>
          <a:prstGeom prst="rect">
            <a:avLst/>
          </a:prstGeom>
        </p:spPr>
      </p:pic>
    </p:spTree>
    <p:extLst>
      <p:ext uri="{BB962C8B-B14F-4D97-AF65-F5344CB8AC3E}">
        <p14:creationId xmlns:p14="http://schemas.microsoft.com/office/powerpoint/2010/main" val="30478221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TotalTime>
  <Words>1563</Words>
  <Application>Microsoft Office PowerPoint</Application>
  <PresentationFormat>Widescreen</PresentationFormat>
  <Paragraphs>179</Paragraphs>
  <Slides>13</Slides>
  <Notes>13</Notes>
  <HiddenSlides>6</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Terry Tompkins</cp:lastModifiedBy>
  <cp:revision>2</cp:revision>
  <dcterms:created xsi:type="dcterms:W3CDTF">2026-07-12T21:37:05Z</dcterms:created>
  <dcterms:modified xsi:type="dcterms:W3CDTF">2026-07-12T22:42:48Z</dcterms:modified>
</cp:coreProperties>
</file>